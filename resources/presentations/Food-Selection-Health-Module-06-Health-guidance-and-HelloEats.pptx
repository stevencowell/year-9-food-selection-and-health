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dc7722d094787" /><Relationship Type="http://schemas.openxmlformats.org/officeDocument/2006/relationships/extended-properties" Target="/docProps/app.xml" Id="R282419fa93744851" /><Relationship Type="http://schemas.openxmlformats.org/officeDocument/2006/relationships/officeDocument" Target="/ppt/presentation.xml" Id="R362081f123764c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fffaae778a41db"/>
  </p:sldMasterIdLst>
  <p:notesMasterIdLst>
    <p:notesMasterId xmlns:r="http://schemas.openxmlformats.org/officeDocument/2006/relationships" r:id="R51c56f145f8e49a2"/>
  </p:notesMasterIdLst>
  <p:sldIdLst>
    <p:sldId xmlns:r="http://schemas.openxmlformats.org/officeDocument/2006/relationships" id="256" r:id="R46cf8ca4af60498f"/>
    <p:sldId xmlns:r="http://schemas.openxmlformats.org/officeDocument/2006/relationships" id="257" r:id="Rc43442a6476e4b41"/>
    <p:sldId xmlns:r="http://schemas.openxmlformats.org/officeDocument/2006/relationships" id="258" r:id="Rbae0c87f63e948b4"/>
    <p:sldId xmlns:r="http://schemas.openxmlformats.org/officeDocument/2006/relationships" id="259" r:id="Rb33d77e986964c69"/>
    <p:sldId xmlns:r="http://schemas.openxmlformats.org/officeDocument/2006/relationships" id="260" r:id="R6b72e74fc6984e54"/>
    <p:sldId xmlns:r="http://schemas.openxmlformats.org/officeDocument/2006/relationships" id="261" r:id="R2d7a32b10fb04db1"/>
    <p:sldId xmlns:r="http://schemas.openxmlformats.org/officeDocument/2006/relationships" id="262" r:id="Re121a0f9351c44b0"/>
    <p:sldId xmlns:r="http://schemas.openxmlformats.org/officeDocument/2006/relationships" id="263" r:id="R69075052c22b44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2d045bd634f93" /><Relationship Type="http://schemas.openxmlformats.org/officeDocument/2006/relationships/slideMaster" Target="/ppt/slideMasters/slideMaster1.xml" Id="R12fffaae778a41db" /><Relationship Type="http://schemas.openxmlformats.org/officeDocument/2006/relationships/notesMaster" Target="/ppt/notesMasters/notesMaster1.xml" Id="R51c56f145f8e49a2" /><Relationship Type="http://schemas.openxmlformats.org/officeDocument/2006/relationships/presProps" Target="/ppt/presProps.xml" Id="R7e59468f78114a2a" /><Relationship Type="http://schemas.openxmlformats.org/officeDocument/2006/relationships/tableStyles" Target="/ppt/tableStyles.xml" Id="R71e64024ceec4133" /><Relationship Type="http://schemas.openxmlformats.org/officeDocument/2006/relationships/slide" Target="/ppt/slides/slide1.xml" Id="R46cf8ca4af60498f" /><Relationship Type="http://schemas.openxmlformats.org/officeDocument/2006/relationships/slide" Target="/ppt/slides/slide2.xml" Id="Rc43442a6476e4b41" /><Relationship Type="http://schemas.openxmlformats.org/officeDocument/2006/relationships/slide" Target="/ppt/slides/slide3.xml" Id="Rbae0c87f63e948b4" /><Relationship Type="http://schemas.openxmlformats.org/officeDocument/2006/relationships/slide" Target="/ppt/slides/slide4.xml" Id="Rb33d77e986964c69" /><Relationship Type="http://schemas.openxmlformats.org/officeDocument/2006/relationships/slide" Target="/ppt/slides/slide5.xml" Id="R6b72e74fc6984e54" /><Relationship Type="http://schemas.openxmlformats.org/officeDocument/2006/relationships/slide" Target="/ppt/slides/slide6.xml" Id="R2d7a32b10fb04db1" /><Relationship Type="http://schemas.openxmlformats.org/officeDocument/2006/relationships/slide" Target="/ppt/slides/slide7.xml" Id="Re121a0f9351c44b0" /><Relationship Type="http://schemas.openxmlformats.org/officeDocument/2006/relationships/slide" Target="/ppt/slides/slide8.xml" Id="R69075052c22b44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9dd2f8e1a41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1001f7072d47c1" /><Relationship Type="http://schemas.openxmlformats.org/officeDocument/2006/relationships/notesMaster" Target="/ppt/notesMasters/notesMaster1.xml" Id="R75466f985f824d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8ba0b738924760" /><Relationship Type="http://schemas.openxmlformats.org/officeDocument/2006/relationships/notesMaster" Target="/ppt/notesMasters/notesMaster1.xml" Id="R7fc0d33996ec44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a0f4a40830477c" /><Relationship Type="http://schemas.openxmlformats.org/officeDocument/2006/relationships/notesMaster" Target="/ppt/notesMasters/notesMaster1.xml" Id="R9d9b101c0d70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a59a6e89a74167" /><Relationship Type="http://schemas.openxmlformats.org/officeDocument/2006/relationships/notesMaster" Target="/ppt/notesMasters/notesMaster1.xml" Id="R2552625aef1144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40bb92b48e466e" /><Relationship Type="http://schemas.openxmlformats.org/officeDocument/2006/relationships/notesMaster" Target="/ppt/notesMasters/notesMaster1.xml" Id="R7845e5d84f7c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fae840f9bd4307" /><Relationship Type="http://schemas.openxmlformats.org/officeDocument/2006/relationships/notesMaster" Target="/ppt/notesMasters/notesMaster1.xml" Id="R2764b38b771849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af633d946b4c27" /><Relationship Type="http://schemas.openxmlformats.org/officeDocument/2006/relationships/notesMaster" Target="/ppt/notesMasters/notesMaster1.xml" Id="R65bd87b8b8dd48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e4c225eaf54eaa" /><Relationship Type="http://schemas.openxmlformats.org/officeDocument/2006/relationships/notesMaster" Target="/ppt/notesMasters/notesMaster1.xml" Id="R53c053a70b25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module around one defensible food decision. Use the context image to elicit what students notice before naming the three sections.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C:\Users\scowell1\Documents\Codex\2026-08-28\new-tas-course-site-builder-plugin-2\outputs\year-9-food-selection-and-health\assets\visual-m06-board.png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C:\Users\scowell1\Documents\Codex\2026-08-28\new-tas-course-site-builder-plugin-2\outputs\year-9-food-selection-and-health\_project\evidence\presentations\crops\module-06-q2.png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class moving through three clear stages. Invite one group to defend a choice using the concept language, then name the evidence students should retain.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C:\Users\scowell1\Documents\Codex\2026-08-28\new-tas-course-site-builder-plugin-2\outputs\year-9-food-selection-and-health\_project\evidence\presentations\crops\module-06-q3.png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 claim, evidence and reasoning chain without dictating the response. Ask students to locate the trade-off or limit that keeps the conclusion defensible.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https://www.aihw.gov.au/reports-data/behaviours-risk-factors/food-nutrition/overview</a:t>
            </a:r>
          </a:p>
          <a:p xmlns:a="http://schemas.openxmlformats.org/drawingml/2006/main">
            <a:r>
              <a:t>- https://www.eatforhealth.gov.au/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https://www.healthstarrating.gov.au/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C:\Users\scowell1\Documents\Codex\2026-08-28\new-tas-course-site-builder-plugin-2\outputs\year-9-food-selection-and-health\_project\evidence\presentations\crops\module-06-q4.png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explanation to applied evidence. The activity should remain formative unless the teacher explicitly links it to an approved formal task.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https://www.eatforhealth.gov.au/guidelines/australian-guide-healthy-eating</a:t>
            </a:r>
          </a:p>
          <a:p xmlns:a="http://schemas.openxmlformats.org/drawingml/2006/main">
            <a:r>
              <a:t>- https://www.foodstandards.gov.au/consumer/labelling/panels</a:t>
            </a:r>
          </a:p>
          <a:p xmlns:a="http://schemas.openxmlformats.org/drawingml/2006/main">
            <a:r>
              <a:t>- https://www.healthstarrating.gov.au/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C:\Users\scowell1\Documents\Codex\2026-08-28\new-tas-course-site-builder-plugin-2\outputs\year-9-food-selection-and-health\_project\evidence\presentations\crops\module-06-q4.png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check. Reopen a section package where reasoning is weak, then direct students to the relevant folio stage.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C:\Users\scowell1\Documents\Codex\2026-08-28\new-tas-course-site-builder-plugin-2\outputs\year-9-food-selection-and-health\_project\evidence\presentations\crops\module-04-q1.png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C:\Users\scowell1\Documents\Codex\2026-08-28\new-tas-course-site-builder-plugin-2\outputs\year-9-food-selection-and-health\_project\evidence\presentations\crops\module-05-q1.png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6964dc279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82a4c39b4441e" /><Relationship Type="http://schemas.openxmlformats.org/officeDocument/2006/relationships/slideLayout" Target="/ppt/slideLayouts/slideLayout1.xml" Id="R32c45bbebce243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45bbebce243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9445986f74f75" /><Relationship Type="http://schemas.openxmlformats.org/officeDocument/2006/relationships/image" Target="/ppt/media/image.png" Id="R5081933e08c44ab9" /><Relationship Type="http://schemas.openxmlformats.org/officeDocument/2006/relationships/notesSlide" Target="/ppt/notesSlides/notesSlide1.xml" Id="R6f901d8d24004c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90fecaf6f46a9" /><Relationship Type="http://schemas.openxmlformats.org/officeDocument/2006/relationships/image" Target="/ppt/media/image2.png" Id="Rbcf18be1c2cb43a7" /><Relationship Type="http://schemas.openxmlformats.org/officeDocument/2006/relationships/notesSlide" Target="/ppt/notesSlides/notesSlide2.xml" Id="R70c2c942955f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e4e3e75e9438f" /><Relationship Type="http://schemas.openxmlformats.org/officeDocument/2006/relationships/notesSlide" Target="/ppt/notesSlides/notesSlide3.xml" Id="R81332405bc424c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610d16da34173" /><Relationship Type="http://schemas.openxmlformats.org/officeDocument/2006/relationships/image" Target="/ppt/media/image3.png" Id="Rf518e1af305747d6" /><Relationship Type="http://schemas.openxmlformats.org/officeDocument/2006/relationships/notesSlide" Target="/ppt/notesSlides/notesSlide4.xml" Id="Rd51a2e1164cc45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203d6d234420e" /><Relationship Type="http://schemas.openxmlformats.org/officeDocument/2006/relationships/notesSlide" Target="/ppt/notesSlides/notesSlide5.xml" Id="Rae17e3afdfde46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b93fb2f0c48b9" /><Relationship Type="http://schemas.openxmlformats.org/officeDocument/2006/relationships/image" Target="/ppt/media/image4.png" Id="Rd6dd45ec90cd4b0b" /><Relationship Type="http://schemas.openxmlformats.org/officeDocument/2006/relationships/notesSlide" Target="/ppt/notesSlides/notesSlide6.xml" Id="R7fbeac8077df45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021969d4487c" /><Relationship Type="http://schemas.openxmlformats.org/officeDocument/2006/relationships/image" Target="/ppt/media/image5.png" Id="R0e77f447ad294fd9" /><Relationship Type="http://schemas.openxmlformats.org/officeDocument/2006/relationships/notesSlide" Target="/ppt/notesSlides/notesSlide7.xml" Id="Reac816510ed74a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5334db13e4b8e" /><Relationship Type="http://schemas.openxmlformats.org/officeDocument/2006/relationships/image" Target="/ppt/media/image6.png" Id="Rf867c21b52e84d8b" /><Relationship Type="http://schemas.openxmlformats.org/officeDocument/2006/relationships/image" Target="/ppt/media/image7.png" Id="R4d70fa0dd56140c7" /><Relationship Type="http://schemas.openxmlformats.org/officeDocument/2006/relationships/notesSlide" Target="/ppt/notesSlides/notesSlide8.xml" Id="Rd8092455ba1a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1933e08c44ab9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499B8-DE7C-4FD5-BDD4-F3AA4E0F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F9FC5-A261-4D93-8CCE-942D44B2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MODULE 6 · YEAR 9 FOOD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6EA26-A7DF-4E87-954A-39356999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2C22"/>
                </a:solidFill>
              </a:defRPr>
            </a:pPr>
            <a:r>
              <a:rPr sz="3900" b="1">
                <a:solidFill>
                  <a:srgbClr val="002C22"/>
                </a:solidFill>
              </a:rPr>
              <a:t>Health, guidance and HelloEats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D0807-A0B8-49A0-B060-0860A19D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5191125" cy="1476375"/>
          </a:xfrm>
          <a:prstGeom xmlns:a="http://schemas.openxmlformats.org/drawingml/2006/main" prst="roundRect">
            <a:avLst>
              <a:gd name="adj" fmla="val 51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D"/>
                </a:solidFill>
              </a:defRPr>
            </a:pPr>
            <a:r>
              <a:rPr sz="1725" b="0">
                <a:solidFill>
                  <a:srgbClr val="57534D"/>
                </a:solidFill>
              </a:rPr>
              <a:t>Students explain under- and overnutrition as patterns rather than judgements, investigate selected nutrition-related conditions without diagnosis or stigma, and use Australian guidance to develop a draft-only HelloEats concept.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ECEBA-81F0-4DE9-9B7E-EC611E98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045"/>
                </a:solidFill>
              </a:defRPr>
            </a:pPr>
            <a:r>
              <a:rPr sz="1575" b="1">
                <a:solidFill>
                  <a:srgbClr val="006045"/>
                </a:solidFill>
              </a:rPr>
              <a:t>Notice → Question → Evidence →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74DD3-6953-4A8C-BF5F-CFCD5FF1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D"/>
                </a:solidFill>
              </a:defRPr>
            </a:pPr>
            <a:r>
              <a:rPr sz="900" b="1">
                <a:solidFill>
                  <a:srgbClr val="57534D"/>
                </a:solidFill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1717875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2725A-6B9E-4C6B-83D6-9862A5D6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1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F0A1B-2675-4539-81A3-B2CFE151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Under- and overnutrition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E22FC-4AD6-419A-ABB6-75BE7396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6.2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18be1c2cb43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2C451-09E1-4083-B598-6F645D2E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Explain undernutrition and overnutrition as forms of malnutrition that arise from patterns and circumstances, and evaluate support responses without judging or diagnosing individuals.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1688E-4795-4758-B334-DFDA9104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insufficient energy, insufficient nutrients and excessive or imbalanced intake.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how biological, social and environmental factors can interact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recommend a respectful, evidence-based support response within a student's 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02C0-A87E-423A-A9A4-72A6AA80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Undernutrition and overnutrition are investigated through patterns, mechanisms and context—not by judging a person or one meal.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BD611-0747-4FAB-8056-39A4A13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9A273-D519-49DE-9063-907CF8E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34860-9111-4CE5-86C3-A59D8287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732849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188DC-D776-4D8E-AE6E-A4DA5C58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6.1 ·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0D75C-2117-4B52-902A-08E5FE6D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Pattern–mechanism–support triads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1E62F-1A2C-43C5-B15F-E9F7FC0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7D860-32B5-49AA-B794-1E9A327A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Practise separating observed evidence, a possible nutrition mechanism and a safe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0870-DFAE-4FA9-9A47-E30367C5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Case A: repeated small meals because food access is unreliable. Case B: frequent energy-dense meals but limited variety. Case C: one low-intake day during illness. Separate a repeated pattern from one-day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50B0E-676E-419D-BB6B-DA45A3BC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9FAC2-35FD-4939-B237-3775C94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Underline only observable evidence in each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FAF60-1C62-4983-BB17-557C9E7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700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CFE70-B98E-4B92-B815-61142BF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Match a possible mechanism using may or could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7A70F-0FAF-4421-9213-BD9DC1B0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A2AB8-79F7-4212-9310-0D3E23A1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Add context cards that might strengthen or weaken the interpretation.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E22BB-4B91-4262-8232-A797838E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Evidence to keep: Three completed evidence–mechanism–support triads with a boundary explanation saved as formative practice.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79CFA-D6CB-4D37-B955-4C700CDD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C1144-AB3A-4F78-91F3-CC16F0F7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A0BA9-7F28-46F8-91EF-32AC25B3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718237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88220-050F-4F39-B0F3-E861614C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2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4AD99-57C2-4F1E-BA31-B3F790F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Nutrition-related conditions and prevention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5FBDC-803E-479A-8656-A16D366D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6.4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8e1af305747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475CB-46D2-49ED-B3B1-40D7F47C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Explain how food patterns can influence risk for selected nutrition-related conditions while recognising multiple causes, risk reduction and the need for professional diagnosis.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1E4D6-32E6-4553-8BF5-98ABB312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one relevant mechanism for anaemia, cardiovascular disease, osteoporosis or type 2 diabetes.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a modifiable risk or protective factor from a diagnosis or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communicate about body size and health without stigma or unsupported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CBF1B-E20F-4E75-AC10-D385F952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Nutrition can influence risk through known mechanisms, but every condition has multiple interacting causes and needs professional diagnosis.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C946-5C62-49B4-97AA-50333A78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6C222-6460-4626-91BE-DE54A04C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E012E-5101-4B3E-AFAB-2767CA34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598915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D276F-F000-4409-B01E-021B3CC4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6.2 · HIGHER-ORDER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A75CD-9EB2-4F25-B020-8D8A091D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Compare, decide and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4D716-3B5E-4889-83B4-57429E26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9FDF5-03AC-4F43-A299-973F37B6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152525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2C22"/>
                </a:solidFill>
              </a:defRPr>
            </a:pPr>
            <a:r>
              <a:rPr sz="2025" b="1">
                <a:solidFill>
                  <a:srgbClr val="002C22"/>
                </a:solidFill>
              </a:rPr>
              <a:t>Choose one nutrition-related condition from the section and explain its mechanism, interacting risk and protective factors, and a food-design response that supports health without promising prevention or treatment.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8F47F-5345-4342-8CA4-ED457895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36"/>
                </a:solidFill>
              </a:defRPr>
            </a:pPr>
            <a:r>
              <a:rPr sz="1650" b="1">
                <a:solidFill>
                  <a:srgbClr val="C70036"/>
                </a:solidFill>
              </a:rPr>
              <a:t>Build the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26557-111A-4DCA-80C3-12DBCB63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6675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C22"/>
                </a:solidFill>
              </a:defRPr>
            </a:pPr>
            <a:r>
              <a:rPr sz="1500" b="0">
                <a:solidFill>
                  <a:srgbClr val="002C22"/>
                </a:solidFill>
              </a:rPr>
              <a:t>• Describe the body system and what changes in the selected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2C22"/>
                </a:solidFill>
              </a:defRPr>
            </a:pPr>
            <a:r>
              <a:rPr sz="1500" b="0">
                <a:solidFill>
                  <a:srgbClr val="002C22"/>
                </a:solidFill>
              </a:rPr>
              <a:t>• Explain one nutrition-related mechanism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2C22"/>
                </a:solidFill>
              </a:defRPr>
            </a:pPr>
            <a:r>
              <a:rPr sz="1500" b="0">
                <a:solidFill>
                  <a:srgbClr val="002C22"/>
                </a:solidFill>
              </a:rPr>
              <a:t>• Distinguish modifiable, non-modifiable and environmental factors.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FAD6D-CAC1-4D69-B1A1-F080397A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37528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Strong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4B1CA-18D2-45B3-A98D-0172B31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37528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Mechanism is accurate and age appropriate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Risk language avoids certainty and blame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Design response is inclusive and evidence based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F317F-1CB8-4CE3-AE7B-90C6CF9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C75FE-35E2-4BF5-AA53-E72438E3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EEBD6-D7D9-4512-A7F7-DC6E0C67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340039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01DFD-2A5B-4828-8722-AFEF827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3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E5368-0384-4EDA-BE42-A4FD2FE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Australian guidance and the HelloEats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BF22B-BDAD-496F-B87D-AB790AB4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6.6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d45ec90cd4b0b"/>
          <a:srcRect xmlns:a="http://schemas.openxmlformats.org/drawingml/2006/main" l="0" t="26170" r="0" b="26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21336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A6AAB-BA70-4331-8A4A-CCBEF696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50292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EVIDENCE ROLES — AGHE: food-group pattern. NIP: per 100 g comparison. Ingredients/allergens: contents and safety. HSR: within-category aid only. Use the current teacher-issued notification; this website/deck does not set dates, marks, submission or practical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97BF9-5B7E-499B-BC1B-32D87C9D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Use Australian food guidance and label evidence to justify a responsible ready-to-eat meal concept while keeping the work formative and separate from the current teacher-issued notification.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475C5-ED02-4EDD-84EB-B2C9809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use the Australian Guide to Healthy Eating, a nutrition panel and an ingredient list for their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interpret the Health Star Rating as a comparison aid, not a complete judgement of a food or eating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keep a draft HelloEats concept formative and separate from the current teacher-issued notification.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404BD-AFD9-4EF5-B081-0020535A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Use guidance and label evidence for the draft; use the current teacher-issued notification for any formal task or practical.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73E45-FC44-4D53-98D0-D40306E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B6260-5262-45B6-84CD-C49438EC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B7345-6C77-4149-8A2D-4526D12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689025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57DEF-6104-4FEC-95EB-C18FFF1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INVESTIGATION ·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E8925-1566-43C0-9AD8-7E2D4130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Apply the three ideas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99356-A4B7-4B6C-A95C-44C172A3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6.7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7f447ad294fd9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3905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3FD6E-0D91-4A52-AA1C-89C52CAF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045"/>
                </a:solidFill>
              </a:defRPr>
            </a:pPr>
            <a:r>
              <a:rPr sz="2100" b="1">
                <a:solidFill>
                  <a:srgbClr val="006045"/>
                </a:solidFill>
              </a:rPr>
              <a:t>Draft HelloEats evidence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48699-C4BD-428C-B50E-07B4C82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6457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2C22"/>
                </a:solidFill>
              </a:defRPr>
            </a:pPr>
            <a:r>
              <a:rPr sz="1500" b="0">
                <a:solidFill>
                  <a:srgbClr val="002C22"/>
                </a:solidFill>
              </a:rPr>
              <a:t>Integrate guidance, label comparison and responsible design while keeping formative work separate from formal assessment.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F2680-DDB8-411C-A982-9CCF381A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6457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Use the evidence card from Slide 6. Keep the concept formative and not submitted.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3BE43-49AD-4FBB-A5E1-155F4F59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6457950" cy="131445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Sketch a ready-to-eat concept and annotate food-group, appeal, cost and packaging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Add safety and allergen questions without inventing a practical recipe.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Mark the concept formative and not submitted; follow the current teacher-issued notification for any formal conditions.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22C1B-2EC0-4710-9AD0-CB2E25B8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36"/>
                </a:solidFill>
              </a:defRPr>
            </a:pPr>
            <a:r>
              <a:rPr sz="1350" b="1">
                <a:solidFill>
                  <a:srgbClr val="C70036"/>
                </a:solidFill>
              </a:rPr>
              <a:t>Keep: A draft concept canvas and product comparison saved as formative practice; not submitted.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D342E-65A0-4E31-9B3A-DBF081CB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FBC25-6E91-4DB0-B61B-0B79CB55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A6EFF-9162-4FF6-87F0-A2D2D6F3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348359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F732B-9194-498C-84B6-C860DA1A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900"/>
                </a:solidFill>
              </a:defRPr>
            </a:pPr>
            <a:r>
              <a:rPr sz="1125" b="1">
                <a:solidFill>
                  <a:srgbClr val="FFB900"/>
                </a:solidFill>
              </a:rPr>
              <a:t>REVIEW · REPAIR · KEEP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756B7-87C4-4603-B05F-D007208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3342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Can you defend the decision?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05AAA-0346-46AF-8EE5-9982B984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4765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1. Which statement best defines malnutrition in this section?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2. What does a risk factor mean?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3. What is the main job of the Australian Guide to Healthy Eating?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7D4D3-35ED-4FA6-9DF0-8D3F7DE8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Save the draft concept board, product comparison and source list under Folio &gt; Draft HelloEats concept. Label it formative learning evidence, not submission.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00CDD-4182-4091-A48F-3B563597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6957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00"/>
                </a:solidFill>
              </a:defRPr>
            </a:pPr>
            <a:r>
              <a:rPr sz="1500" b="1">
                <a:solidFill>
                  <a:srgbClr val="FFB900"/>
                </a:solidFill>
              </a:rPr>
              <a:t>Where this connects next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7c21b52e84d8b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0fa0dd56140c7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552AA-0218-477D-A95D-D4FEB605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695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Save selected evidence in My folio. Browser saving is not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7D31C-D99C-45AE-AE5C-D00841BC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15075"/>
            <a:ext cx="857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600325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2026-08-27T16:30:20.1550000Z</dcterms:created>
  <dcterms:modified xsi:type="dcterms:W3CDTF">2026-08-27T16:30:20.1550000Z</dcterms:modified>
</coreProperties>
</file>