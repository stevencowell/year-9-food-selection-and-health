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8d06792ab0431c" /><Relationship Type="http://schemas.openxmlformats.org/officeDocument/2006/relationships/extended-properties" Target="/docProps/app.xml" Id="Raef3ae99e3da47a8" /><Relationship Type="http://schemas.openxmlformats.org/officeDocument/2006/relationships/officeDocument" Target="/ppt/presentation.xml" Id="R525bf0dde3c042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6b7cbb6b514e24"/>
  </p:sldMasterIdLst>
  <p:notesMasterIdLst>
    <p:notesMasterId xmlns:r="http://schemas.openxmlformats.org/officeDocument/2006/relationships" r:id="R4273ffc893614606"/>
  </p:notesMasterIdLst>
  <p:sldIdLst>
    <p:sldId xmlns:r="http://schemas.openxmlformats.org/officeDocument/2006/relationships" id="256" r:id="R4fc9afedebfc4a05"/>
    <p:sldId xmlns:r="http://schemas.openxmlformats.org/officeDocument/2006/relationships" id="257" r:id="Rb59240a0a0294172"/>
    <p:sldId xmlns:r="http://schemas.openxmlformats.org/officeDocument/2006/relationships" id="258" r:id="Re9ed035392f8465e"/>
    <p:sldId xmlns:r="http://schemas.openxmlformats.org/officeDocument/2006/relationships" id="259" r:id="Rf23a465fb0ce44bd"/>
    <p:sldId xmlns:r="http://schemas.openxmlformats.org/officeDocument/2006/relationships" id="260" r:id="R5fc9ff504f1f4159"/>
    <p:sldId xmlns:r="http://schemas.openxmlformats.org/officeDocument/2006/relationships" id="261" r:id="Rb4cd7c653511481f"/>
    <p:sldId xmlns:r="http://schemas.openxmlformats.org/officeDocument/2006/relationships" id="262" r:id="R475c590c32b94001"/>
    <p:sldId xmlns:r="http://schemas.openxmlformats.org/officeDocument/2006/relationships" id="263" r:id="R4810a8ca66a543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1687b5f43347cc" /><Relationship Type="http://schemas.openxmlformats.org/officeDocument/2006/relationships/slideMaster" Target="/ppt/slideMasters/slideMaster1.xml" Id="Rdd6b7cbb6b514e24" /><Relationship Type="http://schemas.openxmlformats.org/officeDocument/2006/relationships/notesMaster" Target="/ppt/notesMasters/notesMaster1.xml" Id="R4273ffc893614606" /><Relationship Type="http://schemas.openxmlformats.org/officeDocument/2006/relationships/presProps" Target="/ppt/presProps.xml" Id="Rd195f9c9991b430d" /><Relationship Type="http://schemas.openxmlformats.org/officeDocument/2006/relationships/tableStyles" Target="/ppt/tableStyles.xml" Id="Rb29bc1a49cb14162" /><Relationship Type="http://schemas.openxmlformats.org/officeDocument/2006/relationships/slide" Target="/ppt/slides/slide1.xml" Id="R4fc9afedebfc4a05" /><Relationship Type="http://schemas.openxmlformats.org/officeDocument/2006/relationships/slide" Target="/ppt/slides/slide2.xml" Id="Rb59240a0a0294172" /><Relationship Type="http://schemas.openxmlformats.org/officeDocument/2006/relationships/slide" Target="/ppt/slides/slide3.xml" Id="Re9ed035392f8465e" /><Relationship Type="http://schemas.openxmlformats.org/officeDocument/2006/relationships/slide" Target="/ppt/slides/slide4.xml" Id="Rf23a465fb0ce44bd" /><Relationship Type="http://schemas.openxmlformats.org/officeDocument/2006/relationships/slide" Target="/ppt/slides/slide5.xml" Id="R5fc9ff504f1f4159" /><Relationship Type="http://schemas.openxmlformats.org/officeDocument/2006/relationships/slide" Target="/ppt/slides/slide6.xml" Id="Rb4cd7c653511481f" /><Relationship Type="http://schemas.openxmlformats.org/officeDocument/2006/relationships/slide" Target="/ppt/slides/slide7.xml" Id="R475c590c32b94001" /><Relationship Type="http://schemas.openxmlformats.org/officeDocument/2006/relationships/slide" Target="/ppt/slides/slide8.xml" Id="R4810a8ca66a543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02556748074c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c9bdfb78db4ec1" /><Relationship Type="http://schemas.openxmlformats.org/officeDocument/2006/relationships/notesMaster" Target="/ppt/notesMasters/notesMaster1.xml" Id="R53139801f19c43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889b1a33104848" /><Relationship Type="http://schemas.openxmlformats.org/officeDocument/2006/relationships/notesMaster" Target="/ppt/notesMasters/notesMaster1.xml" Id="R53b9af5c035246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024ecf8c414901" /><Relationship Type="http://schemas.openxmlformats.org/officeDocument/2006/relationships/notesMaster" Target="/ppt/notesMasters/notesMaster1.xml" Id="R2e5775e1915a41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6966c14f0f4bff" /><Relationship Type="http://schemas.openxmlformats.org/officeDocument/2006/relationships/notesMaster" Target="/ppt/notesMasters/notesMaster1.xml" Id="R6ba17b7d312c48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819046824a4ae8" /><Relationship Type="http://schemas.openxmlformats.org/officeDocument/2006/relationships/notesMaster" Target="/ppt/notesMasters/notesMaster1.xml" Id="R0ddd1d8d263a4d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983001def242a7" /><Relationship Type="http://schemas.openxmlformats.org/officeDocument/2006/relationships/notesMaster" Target="/ppt/notesMasters/notesMaster1.xml" Id="Rd4b2298bcc9d48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182c7abed0473a" /><Relationship Type="http://schemas.openxmlformats.org/officeDocument/2006/relationships/notesMaster" Target="/ppt/notesMasters/notesMaster1.xml" Id="Rb595c9236cc848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ee61927cec4716" /><Relationship Type="http://schemas.openxmlformats.org/officeDocument/2006/relationships/notesMaster" Target="/ppt/notesMasters/notesMaster1.xml" Id="Rf614eb82fb0248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module around one defensible food decision. Use the context image to elicit what students notice before naming the three sections.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https://curriculum.nsw.edu.au/learning-areas/tas/food-technology-7-10-2025/outcomes</a:t>
            </a:r>
          </a:p>
          <a:p xmlns:a="http://schemas.openxmlformats.org/drawingml/2006/main">
            <a:r>
              <a:t>- Generated visual asset: C:\Users\scowell1\Documents\Codex\2026-08-28\new-tas-course-site-builder-plugin-2\outputs\year-9-food-selection-and-health\assets\visual-m05-board.png</a:t>
            </a:r>
          </a:p>
          <a:p xmlns:a="http://schemas.openxmlformats.org/drawingml/2006/main">
            <a:r>
              <a:t>- Generated course identity asset: C:\Users\scowell1\Documents\Codex\2026-08-28\new-tas-course-site-builder-plugin-2\outputs\year-9-food-selection-and-health\assets\food-selection-health-hero.png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learning intention through the visual. Ask students to state what the image can support and what it cannot prove. Address the first likely misconception before moving on.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https://www.abs.gov.au/statistics/health/health-conditions-and-risks/dietary-behaviour</a:t>
            </a:r>
          </a:p>
          <a:p xmlns:a="http://schemas.openxmlformats.org/drawingml/2006/main">
            <a:r>
              <a:t>- https://www.aihw.gov.au/reports-data/behaviours-risk-factors/food-nutrition/overview</a:t>
            </a:r>
          </a:p>
          <a:p xmlns:a="http://schemas.openxmlformats.org/drawingml/2006/main">
            <a:r>
              <a:t>- https://www.eatforhealth.gov.au/guidelines/australian-guide-healthy-eating</a:t>
            </a:r>
          </a:p>
          <a:p xmlns:a="http://schemas.openxmlformats.org/drawingml/2006/main">
            <a:r>
              <a:t>- https://www.abs.gov.au/statistics/health/food-and-nutrition/consumption-food-groups-australian-dietary-guidelines/latest-release</a:t>
            </a:r>
          </a:p>
          <a:p xmlns:a="http://schemas.openxmlformats.org/drawingml/2006/main">
            <a:r>
              <a:t>- Generated visual asset: C:\Users\scowell1\Documents\Codex\2026-08-28\new-tas-course-site-builder-plugin-2\outputs\year-9-food-selection-and-health\_project\evidence\presentations\crops\module-05-q2.png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class moving through three clear stages. Invite one group to defend a choice using the concept language, then name the evidence students should retain.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https://www.abs.gov.au/statistics/health/health-conditions-and-risks/dietary-behaviour</a:t>
            </a:r>
          </a:p>
          <a:p xmlns:a="http://schemas.openxmlformats.org/drawingml/2006/main">
            <a:r>
              <a:t>- https://www.aihw.gov.au/reports-data/behaviours-risk-factors/food-nutrition/overview</a:t>
            </a:r>
          </a:p>
          <a:p xmlns:a="http://schemas.openxmlformats.org/drawingml/2006/main">
            <a:r>
              <a:t>- https://www.eatforhealth.gov.au/guidelines/australian-guide-healthy-eating</a:t>
            </a:r>
          </a:p>
          <a:p xmlns:a="http://schemas.openxmlformats.org/drawingml/2006/main">
            <a:r>
              <a:t>- https://www.abs.gov.au/statistics/health/food-and-nutrition/consumption-food-groups-australian-dietary-guidelines/latest-release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learning intention through the visual. Ask students to state what the image can support and what it cannot prove. Address the first likely misconception before moving on.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https://www.foodstandards.gov.au/consumer/safety</a:t>
            </a:r>
          </a:p>
          <a:p xmlns:a="http://schemas.openxmlformats.org/drawingml/2006/main">
            <a:r>
              <a:t>- https://www.foodauthority.nsw.gov.au/consumer/food-at-home</a:t>
            </a:r>
          </a:p>
          <a:p xmlns:a="http://schemas.openxmlformats.org/drawingml/2006/main">
            <a:r>
              <a:t>- https://www.foodstandards.gov.au/consumer/labelling/panels</a:t>
            </a:r>
          </a:p>
          <a:p xmlns:a="http://schemas.openxmlformats.org/drawingml/2006/main">
            <a:r>
              <a:t>- Generated visual asset: C:\Users\scowell1\Documents\Codex\2026-08-28\new-tas-course-site-builder-plugin-2\outputs\year-9-food-selection-and-health\_project\evidence\presentations\crops\module-05-q3.png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 claim, evidence and reasoning chain without dictating the response. Ask students to locate the trade-off or limit that keeps the conclusion defensible.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https://www.foodstandards.gov.au/consumer/safety</a:t>
            </a:r>
          </a:p>
          <a:p xmlns:a="http://schemas.openxmlformats.org/drawingml/2006/main">
            <a:r>
              <a:t>- https://www.foodauthority.nsw.gov.au/consumer/food-at-home</a:t>
            </a:r>
          </a:p>
          <a:p xmlns:a="http://schemas.openxmlformats.org/drawingml/2006/main">
            <a:r>
              <a:t>- https://www.foodstandards.gov.au/consumer/labelling/panels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learning intention through the visual. Ask students to state what the image can support and what it cannot prove. Address the first likely misconception before moving on.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https://curriculum.nsw.edu.au/learning-areas/tas/food-technology-7-10-2025/outcomes</a:t>
            </a:r>
          </a:p>
          <a:p xmlns:a="http://schemas.openxmlformats.org/drawingml/2006/main">
            <a:r>
              <a:t>- https://www.eatforhealth.gov.au/guidelines/australian-guide-healthy-eating</a:t>
            </a:r>
          </a:p>
          <a:p xmlns:a="http://schemas.openxmlformats.org/drawingml/2006/main">
            <a:r>
              <a:t>- https://www.foodstandards.gov.au/consumer/safety</a:t>
            </a:r>
          </a:p>
          <a:p xmlns:a="http://schemas.openxmlformats.org/drawingml/2006/main">
            <a:r>
              <a:t>- https://www.foodstandards.gov.au/consumer/labelling/panels</a:t>
            </a:r>
          </a:p>
          <a:p xmlns:a="http://schemas.openxmlformats.org/drawingml/2006/main">
            <a:r>
              <a:t>- Generated visual asset: C:\Users\scowell1\Documents\Codex\2026-08-28\new-tas-course-site-builder-plugin-2\outputs\year-9-food-selection-and-health\_project\evidence\presentations\crops\module-05-q4.png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handoff from explanation to applied evidence. The activity should remain formative unless the teacher explicitly links it to an approved formal task.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https://curriculum.nsw.edu.au/learning-areas/tas/food-technology-7-10-2025/outcomes</a:t>
            </a:r>
          </a:p>
          <a:p xmlns:a="http://schemas.openxmlformats.org/drawingml/2006/main">
            <a:r>
              <a:t>- https://www.eatforhealth.gov.au/guidelines/australian-guide-healthy-eating</a:t>
            </a:r>
          </a:p>
          <a:p xmlns:a="http://schemas.openxmlformats.org/drawingml/2006/main">
            <a:r>
              <a:t>- https://www.foodstandards.gov.au/consumer/safety</a:t>
            </a:r>
          </a:p>
          <a:p xmlns:a="http://schemas.openxmlformats.org/drawingml/2006/main">
            <a:r>
              <a:t>- https://www.foodstandards.gov.au/consumer/labelling/panels</a:t>
            </a:r>
          </a:p>
          <a:p xmlns:a="http://schemas.openxmlformats.org/drawingml/2006/main">
            <a:r>
              <a:t>- Generated visual asset: C:\Users\scowell1\Documents\Codex\2026-08-28\new-tas-course-site-builder-plugin-2\outputs\year-9-food-selection-and-health\_project\evidence\presentations\crops\module-05-q4.png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prompts as an exit check. Reopen a section package where reasoning is weak, then direct students to the relevant folio stage.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https://curriculum.nsw.edu.au/learning-areas/tas/food-technology-7-10-2025/outcomes</a:t>
            </a:r>
          </a:p>
          <a:p xmlns:a="http://schemas.openxmlformats.org/drawingml/2006/main">
            <a:r>
              <a:t>- Generated course identity asset: C:\Users\scowell1\Documents\Codex\2026-08-28\new-tas-course-site-builder-plugin-2\outputs\year-9-food-selection-and-health\assets\food-selection-health-hero.png</a:t>
            </a:r>
          </a:p>
          <a:p xmlns:a="http://schemas.openxmlformats.org/drawingml/2006/main">
            <a:r>
              <a:t>- Generated adjacent-module context asset: C:\Users\scowell1\Documents\Codex\2026-08-28\new-tas-course-site-builder-plugin-2\outputs\year-9-food-selection-and-health\_project\evidence\presentations\crops\module-04-q1.png</a:t>
            </a:r>
          </a:p>
          <a:p xmlns:a="http://schemas.openxmlformats.org/drawingml/2006/main">
            <a:r>
              <a:t>- Generated adjacent-module context asset: C:\Users\scowell1\Documents\Codex\2026-08-28\new-tas-course-site-builder-plugin-2\outputs\year-9-food-selection-and-health\_project\evidence\presentations\crops\module-06-q1.png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52e0a8fcbc41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dc750602814980" /><Relationship Type="http://schemas.openxmlformats.org/officeDocument/2006/relationships/slideLayout" Target="/ppt/slideLayouts/slideLayout1.xml" Id="R389dbbda9dca4c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9dbbda9dca4c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a8358447a4b4e" /><Relationship Type="http://schemas.openxmlformats.org/officeDocument/2006/relationships/image" Target="/ppt/media/image.png" Id="R1c60f2609b824de2" /><Relationship Type="http://schemas.openxmlformats.org/officeDocument/2006/relationships/notesSlide" Target="/ppt/notesSlides/notesSlide1.xml" Id="R2dadcc2ec09741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6e79cb5c84133" /><Relationship Type="http://schemas.openxmlformats.org/officeDocument/2006/relationships/image" Target="/ppt/media/image2.png" Id="R5f95d302ed29405c" /><Relationship Type="http://schemas.openxmlformats.org/officeDocument/2006/relationships/notesSlide" Target="/ppt/notesSlides/notesSlide2.xml" Id="R1c5190905a6746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2a84d53ec44cc" /><Relationship Type="http://schemas.openxmlformats.org/officeDocument/2006/relationships/notesSlide" Target="/ppt/notesSlides/notesSlide3.xml" Id="R62932c2381bf47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f7f6738044dc6" /><Relationship Type="http://schemas.openxmlformats.org/officeDocument/2006/relationships/image" Target="/ppt/media/image3.png" Id="R836b84e8d9504dc6" /><Relationship Type="http://schemas.openxmlformats.org/officeDocument/2006/relationships/notesSlide" Target="/ppt/notesSlides/notesSlide4.xml" Id="R4b083bef855843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28c54feeb41ba" /><Relationship Type="http://schemas.openxmlformats.org/officeDocument/2006/relationships/notesSlide" Target="/ppt/notesSlides/notesSlide5.xml" Id="Re51dc55c2a734c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4486814f740cc" /><Relationship Type="http://schemas.openxmlformats.org/officeDocument/2006/relationships/image" Target="/ppt/media/image4.png" Id="R61674e0c448c427b" /><Relationship Type="http://schemas.openxmlformats.org/officeDocument/2006/relationships/notesSlide" Target="/ppt/notesSlides/notesSlide6.xml" Id="R0b52cd2b140942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3a1171b8d467d" /><Relationship Type="http://schemas.openxmlformats.org/officeDocument/2006/relationships/image" Target="/ppt/media/image5.png" Id="R31af0d2fe5c64c40" /><Relationship Type="http://schemas.openxmlformats.org/officeDocument/2006/relationships/notesSlide" Target="/ppt/notesSlides/notesSlide7.xml" Id="R0f3505d5b2b04a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76f645d624a94" /><Relationship Type="http://schemas.openxmlformats.org/officeDocument/2006/relationships/image" Target="/ppt/media/image6.png" Id="Rd9c1007e80ca465f" /><Relationship Type="http://schemas.openxmlformats.org/officeDocument/2006/relationships/image" Target="/ppt/media/image7.png" Id="R41496c8eeb26491e" /><Relationship Type="http://schemas.openxmlformats.org/officeDocument/2006/relationships/notesSlide" Target="/ppt/notesSlides/notesSlide8.xml" Id="R1ab9131e7e5e4f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0f2609b824de2"/>
          <a:srcRect xmlns:a="http://schemas.openxmlformats.org/drawingml/2006/main" l="26941" t="0" r="269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72B60-7B05-44BF-B499-03098E96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54D38-3718-44C9-A1C7-5827EDBE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53340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36"/>
                </a:solidFill>
              </a:defRPr>
            </a:pPr>
            <a:r>
              <a:rPr sz="1125" b="1">
                <a:solidFill>
                  <a:srgbClr val="C70036"/>
                </a:solidFill>
              </a:rPr>
              <a:t>MODULE 5 · YEAR 9 FOOD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0BBBF-A441-4715-8AD3-14D7302C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5429250" cy="1809750"/>
          </a:xfrm>
          <a:prstGeom xmlns:a="http://schemas.openxmlformats.org/drawingml/2006/main" prst="roundRect">
            <a:avLst>
              <a:gd name="adj" fmla="val 42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2C22"/>
                </a:solidFill>
              </a:defRPr>
            </a:pPr>
            <a:r>
              <a:rPr sz="3900" b="1">
                <a:solidFill>
                  <a:srgbClr val="002C22"/>
                </a:solidFill>
              </a:rPr>
              <a:t>Patterns, technology and choice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14637-54AE-4D36-A7BE-83D0D10A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90875"/>
            <a:ext cx="5191125" cy="1476375"/>
          </a:xfrm>
          <a:prstGeom xmlns:a="http://schemas.openxmlformats.org/drawingml/2006/main" prst="roundRect">
            <a:avLst>
              <a:gd name="adj" fmla="val 51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7534D"/>
                </a:solidFill>
              </a:defRPr>
            </a:pPr>
            <a:r>
              <a:rPr sz="1575" b="0">
                <a:solidFill>
                  <a:srgbClr val="57534D"/>
                </a:solidFill>
              </a:rPr>
              <a:t>Students use population evidence to investigate Australian food-consumption patterns, examine how convenience and food technologies shape choices, and develop responsible food-solution decisions through explicit criteria and trade-offs.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3E6C1-AAFF-4E18-9BAA-F19C23A7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4953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045"/>
                </a:solidFill>
              </a:defRPr>
            </a:pPr>
            <a:r>
              <a:rPr sz="1575" b="1">
                <a:solidFill>
                  <a:srgbClr val="006045"/>
                </a:solidFill>
              </a:rPr>
              <a:t>Notice → Question → Evidence → 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1DD1F-3EF9-4221-B6FC-C736A018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198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534D"/>
                </a:solidFill>
              </a:defRPr>
            </a:pPr>
            <a:r>
              <a:rPr sz="900" b="1">
                <a:solidFill>
                  <a:srgbClr val="57534D"/>
                </a:solidFill>
              </a:rPr>
              <a:t>1 / 8</a:t>
            </a:r>
          </a:p>
        </p:txBody>
      </p:sp>
    </p:spTree>
    <p:extLst>
      <p:ext uri="{BB962C8B-B14F-4D97-AF65-F5344CB8AC3E}">
        <p14:creationId xmlns:p14="http://schemas.microsoft.com/office/powerpoint/2010/main" val="20107871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B6BA8A-77AC-40F7-8C2E-F67AB798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CONCEPT 1 · NOTICE AND EXPLAIN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CE2BB-8E97-429B-911C-E0721B75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Australian food-consumption patterns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59F6D-EEE8-4F8B-A03C-D5AA7D6E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5.2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95d302ed29405c"/>
          <a:srcRect xmlns:a="http://schemas.openxmlformats.org/drawingml/2006/main" l="0" t="26170" r="0" b="261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1524000"/>
            <a:ext cx="5029200" cy="21336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9F3A2-153D-4397-B716-72398094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90950"/>
            <a:ext cx="50292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FB9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ABS DATA CARD — Australian children aged 2–17, 2023: 2.1% met the vegetables, legumes and beans recommendation; 50.7% met the fruit recommendation. These national broad-age estimates do not describe this school, explain causes or judge an individual. ABS NNPAS; released 10 July 2026.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80859-9E57-4575-A4E3-BB761DFF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953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045"/>
                </a:solidFill>
              </a:defRPr>
            </a:pPr>
            <a:r>
              <a:rPr sz="1725" b="1">
                <a:solidFill>
                  <a:srgbClr val="006045"/>
                </a:solidFill>
              </a:rPr>
              <a:t>Interpret food-consumption evidence as a population pattern, distinguish it from an individual judgement and propose a proportionate design response.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185C8-C90E-49F6-9AB1-8F8C2181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953000" cy="2428875"/>
          </a:xfrm>
          <a:prstGeom xmlns:a="http://schemas.openxmlformats.org/drawingml/2006/main" prst="roundRect">
            <a:avLst>
              <a:gd name="adj" fmla="val 470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distinguish a population pattern from a claim about every Australian.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interpret a comparison while checking its measure, group and time period.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propose a realistic response that matches the evidence and acknowledges uncertainty.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87236-510E-4AD7-8299-5ED43E3E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36"/>
                </a:solidFill>
              </a:defRPr>
            </a:pPr>
            <a:r>
              <a:rPr sz="1275" b="1">
                <a:solidFill>
                  <a:srgbClr val="C70036"/>
                </a:solidFill>
              </a:rPr>
              <a:t>A summary pattern is useful only when we remember the different people, settings and measurements behind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F24B3-8E75-429B-83F6-C13D7D49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D15DA6-FDB8-4D56-8D25-959D3943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494354-6560-4A22-8CDF-FB55E86E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2 / 8</a:t>
            </a:r>
          </a:p>
        </p:txBody>
      </p:sp>
    </p:spTree>
    <p:extLst>
      <p:ext uri="{BB962C8B-B14F-4D97-AF65-F5344CB8AC3E}">
        <p14:creationId xmlns:p14="http://schemas.microsoft.com/office/powerpoint/2010/main" val="7866197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C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ED54BB-33F1-40AA-A323-8F6F93BD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SECTION 5.1 · DECIDE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CBF8F-4E14-407C-A108-312323B0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Pattern claim clinic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F5F3F-358F-40D3-BD9A-6858F55A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545D35-B63E-44BE-91B8-E787F2BB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6045"/>
                </a:solidFill>
              </a:defRPr>
            </a:pPr>
            <a:r>
              <a:rPr sz="1650" b="1">
                <a:solidFill>
                  <a:srgbClr val="006045"/>
                </a:solidFill>
              </a:rPr>
              <a:t>Practise turning government data into accurate claims, limits and testable design opportunities.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44DF9-F54C-464C-874E-16D79819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FB9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2C22"/>
                </a:solidFill>
              </a:defRPr>
            </a:pPr>
            <a:r>
              <a:rPr sz="1275" b="1">
                <a:solidFill>
                  <a:srgbClr val="002C22"/>
                </a:solidFill>
              </a:rPr>
              <a:t>Claim A: ‘Every Australian teenager eats too few vegetables.’ Claim B: ‘ABS 2023 estimated that 2.1% of children aged 2–17 met the vegetables, legumes and beans recommendation; individual intake varies.’ Classify, repair and justify.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11287-FF6B-4942-B1A4-E197DE42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A00C5-D8AF-4E14-B0F2-5D0B2915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C22"/>
                </a:solidFill>
              </a:defRPr>
            </a:pPr>
            <a:r>
              <a:rPr sz="1350" b="1">
                <a:solidFill>
                  <a:srgbClr val="002C22"/>
                </a:solidFill>
              </a:rPr>
              <a:t>Mark source, population, date, measure and unit.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1ABECA-CE13-4059-91B8-893FA0F2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051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700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62034-3512-49ED-8988-6E2C9E7B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7190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C22"/>
                </a:solidFill>
              </a:defRPr>
            </a:pPr>
            <a:r>
              <a:rPr sz="1350" b="1">
                <a:solidFill>
                  <a:srgbClr val="002C22"/>
                </a:solidFill>
              </a:rPr>
              <a:t>Sort claim cards into supported, overgeneralised or unsupported.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E5FE9A-D4F2-4966-9ACD-30734123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051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54BABD-C8CA-4337-8541-C4E12142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7190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C22"/>
                </a:solidFill>
              </a:defRPr>
            </a:pPr>
            <a:r>
              <a:rPr sz="1350" b="1">
                <a:solidFill>
                  <a:srgbClr val="002C22"/>
                </a:solidFill>
              </a:rPr>
              <a:t>Repair two overgeneralised claims using cautious wording.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1F8641-F45D-4ADD-8838-C249731F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820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FB9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2C22"/>
                </a:solidFill>
              </a:defRPr>
            </a:pPr>
            <a:r>
              <a:rPr sz="1500" b="1">
                <a:solidFill>
                  <a:srgbClr val="002C22"/>
                </a:solidFill>
              </a:rPr>
              <a:t>Evidence to keep: A checked data excerpt, two repaired claims and one proportionate response canvas saved as formative practice.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407BA8-5191-416B-942C-F3632D72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370A50-206C-457C-AE8C-25E7F7D5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C3F8F0-3B1F-4650-92AE-9265FF85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3 / 8</a:t>
            </a:r>
          </a:p>
        </p:txBody>
      </p:sp>
    </p:spTree>
    <p:extLst>
      <p:ext uri="{BB962C8B-B14F-4D97-AF65-F5344CB8AC3E}">
        <p14:creationId xmlns:p14="http://schemas.microsoft.com/office/powerpoint/2010/main" val="2112938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C9EFDC-D2CF-478E-9AC6-E44C2D4B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CONCEPT 2 · NOTICE AND EXPLAIN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BEADB-E440-49DB-8A65-5A174C67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Convenience, delivery and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76C7D-1B2E-4251-878A-7C8110F5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5.4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6b84e8d9504d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24000"/>
            <a:ext cx="5029200" cy="4476750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D0650-46F5-4464-B6C3-0C702B1E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00200"/>
            <a:ext cx="4953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045"/>
                </a:solidFill>
              </a:defRPr>
            </a:pPr>
            <a:r>
              <a:rPr sz="1725" b="1">
                <a:solidFill>
                  <a:srgbClr val="006045"/>
                </a:solidFill>
              </a:rPr>
              <a:t>Investigate how processing, packaging, preservation and digital delivery change food access, safety, quality and choice, then evaluate a convenience option as a trade-off.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D3F55-4A82-4DA1-948B-35C116DF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28950"/>
            <a:ext cx="4953000" cy="2428875"/>
          </a:xfrm>
          <a:prstGeom xmlns:a="http://schemas.openxmlformats.org/drawingml/2006/main" prst="roundRect">
            <a:avLst>
              <a:gd name="adj" fmla="val 470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explain a useful function of at least two food technologies.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compare convenience options using more than speed or processing level.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identify a food-safety control that remains important during delivery or storage.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143783-5FA5-4572-9B73-F0726473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5245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36"/>
                </a:solidFill>
              </a:defRPr>
            </a:pPr>
            <a:r>
              <a:rPr sz="1275" b="1">
                <a:solidFill>
                  <a:srgbClr val="C70036"/>
                </a:solidFill>
              </a:rPr>
              <a:t>Convenience depends on a chain of technologies and decisions; safety and responsibility do not end at checkout.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CD983-6D95-4F8A-86E1-ADDFD9EB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1EFF8-8A1B-43FF-84E4-3E519FCD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C2931-0F1F-4D69-93A8-FF8CDAEE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4 / 8</a:t>
            </a:r>
          </a:p>
        </p:txBody>
      </p:sp>
    </p:spTree>
    <p:extLst>
      <p:ext uri="{BB962C8B-B14F-4D97-AF65-F5344CB8AC3E}">
        <p14:creationId xmlns:p14="http://schemas.microsoft.com/office/powerpoint/2010/main" val="6177733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A598F3-DCD0-49D0-B4DD-8091A015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SECTION 5.2 · HIGHER-ORDER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6D4A3-5441-48F5-9855-828952AF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Compare, decide and explain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0B0F9-C805-49BF-A652-DD24F3CB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5.5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8658E-E4DB-4278-9F94-E8A6BF84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B9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2C22"/>
                </a:solidFill>
              </a:defRPr>
            </a:pPr>
            <a:r>
              <a:rPr sz="1725" b="1">
                <a:solidFill>
                  <a:srgbClr val="002C22"/>
                </a:solidFill>
              </a:rPr>
              <a:t>Evaluate two ways of obtaining the same meal—one prepared from a convenience product and one ordered through delivery—and recommend the better fit for a stated user and situation.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2F3D3-3C2B-4980-9EB2-B66602DF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2C22"/>
                </a:solidFill>
              </a:defRPr>
            </a:pPr>
            <a:r>
              <a:rPr sz="1275" b="1">
                <a:solidFill>
                  <a:srgbClr val="002C22"/>
                </a:solidFill>
              </a:rPr>
              <a:t>STIMULUS — A: chilled supermarket pasta meal carried in an insulated bag and reheated at school. B: the same pasta style ordered hot by delivery at lunch. Compare time, facilities, temperature control, cost, packaging and waste.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2C6C6-6FF4-47BB-AD44-9EFEA98C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3143250" cy="361950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0036"/>
                </a:solidFill>
              </a:defRPr>
            </a:pPr>
            <a:r>
              <a:rPr sz="1650" b="1">
                <a:solidFill>
                  <a:srgbClr val="C70036"/>
                </a:solidFill>
              </a:rPr>
              <a:t>Build the response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E343F-5DF3-4B22-AC25-812957CC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6667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2C22"/>
                </a:solidFill>
              </a:defRPr>
            </a:pPr>
            <a:r>
              <a:rPr sz="1350" b="0">
                <a:solidFill>
                  <a:srgbClr val="002C22"/>
                </a:solidFill>
              </a:rPr>
              <a:t>• Define the user's purpose, available time, facilities and constraints.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2C22"/>
                </a:solidFill>
              </a:defRPr>
            </a:pPr>
            <a:r>
              <a:rPr sz="1350" b="0">
                <a:solidFill>
                  <a:srgbClr val="002C22"/>
                </a:solidFill>
              </a:rPr>
              <a:t>• Trace the technologies and handling stages in each option.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2C22"/>
                </a:solidFill>
              </a:defRPr>
            </a:pPr>
            <a:r>
              <a:rPr sz="1350" b="0">
                <a:solidFill>
                  <a:srgbClr val="002C22"/>
                </a:solidFill>
              </a:rPr>
              <a:t>• Compare nutrition evidence, allergen suitability, safety, total cost, appeal, packaging and waste.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F4FC44-1C45-408A-B1EE-555CB07A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76600"/>
            <a:ext cx="3752850" cy="361950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6045"/>
                </a:solidFill>
              </a:defRPr>
            </a:pPr>
            <a:r>
              <a:rPr sz="1650" b="1">
                <a:solidFill>
                  <a:srgbClr val="006045"/>
                </a:solidFill>
              </a:rPr>
              <a:t>Strong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C9C33E-126A-4781-902E-043A4E02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76650"/>
            <a:ext cx="37528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2C22"/>
                </a:solidFill>
              </a:defRPr>
            </a:pPr>
            <a:r>
              <a:rPr sz="1275" b="0">
                <a:solidFill>
                  <a:srgbClr val="002C22"/>
                </a:solidFill>
              </a:rPr>
              <a:t>• Uses a complete set of relevant criteria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002C22"/>
                </a:solidFill>
              </a:defRPr>
            </a:pPr>
            <a:r>
              <a:rPr sz="1275" b="0">
                <a:solidFill>
                  <a:srgbClr val="002C22"/>
                </a:solidFill>
              </a:rPr>
              <a:t>• Explains preservation or delivery mechanisms accurately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002C22"/>
                </a:solidFill>
              </a:defRPr>
            </a:pPr>
            <a:r>
              <a:rPr sz="1275" b="0">
                <a:solidFill>
                  <a:srgbClr val="002C22"/>
                </a:solidFill>
              </a:rPr>
              <a:t>• Recommendation responds to the stated 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D5AC6-D3E0-423C-9B9A-9394D495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F7563-214C-4BA7-8EB1-48F0E043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62DA5-E983-4983-8CC2-C925C78F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5 / 8</a:t>
            </a:r>
          </a:p>
        </p:txBody>
      </p:sp>
    </p:spTree>
    <p:extLst>
      <p:ext uri="{BB962C8B-B14F-4D97-AF65-F5344CB8AC3E}">
        <p14:creationId xmlns:p14="http://schemas.microsoft.com/office/powerpoint/2010/main" val="12497878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83F6A8-DB34-459A-B57B-792907BC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CONCEPT 3 · NOTICE AND EXPLAIN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A5ED3-ECD8-448A-A17D-A77DDBA2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Designing responsible food solutions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06CBF-CEC8-4EA4-95B1-F4A34751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5.6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74e0c448c427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1524000"/>
            <a:ext cx="5029200" cy="4476750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D301E-D26A-44B0-B7A7-DF2AEC2F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953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045"/>
                </a:solidFill>
              </a:defRPr>
            </a:pPr>
            <a:r>
              <a:rPr sz="1725" b="1">
                <a:solidFill>
                  <a:srgbClr val="006045"/>
                </a:solidFill>
              </a:rPr>
              <a:t>Use a food-design process to turn a defined need into an evidence-based solution, manage trade-offs and evaluate the result against explicit criteria.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C875F-F1CB-4DE3-B21F-EF8497BA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953000" cy="2428875"/>
          </a:xfrm>
          <a:prstGeom xmlns:a="http://schemas.openxmlformats.org/drawingml/2006/main" prst="roundRect">
            <a:avLst>
              <a:gd name="adj" fmla="val 470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convert a need into measurable criteria and realistic constraints.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justify design choices using nutrition, safety, appeal, access and responsibility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evaluate a prototype honestly and propose a specific improvement.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CC02B8-8C21-43B3-9F89-050F2E22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36"/>
                </a:solidFill>
              </a:defRPr>
            </a:pPr>
            <a:r>
              <a:rPr sz="1275" b="1">
                <a:solidFill>
                  <a:srgbClr val="C70036"/>
                </a:solidFill>
              </a:rPr>
              <a:t>Responsible solutions are justified against the same criteria, then improved with evidence from testing.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1AAFE-4DD5-47B9-AC22-107708A0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5CAFA-4CFB-4B06-8C05-AD4C739A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159CCB-F334-4920-881D-FDD5D32D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6 / 8</a:t>
            </a:r>
          </a:p>
        </p:txBody>
      </p:sp>
    </p:spTree>
    <p:extLst>
      <p:ext uri="{BB962C8B-B14F-4D97-AF65-F5344CB8AC3E}">
        <p14:creationId xmlns:p14="http://schemas.microsoft.com/office/powerpoint/2010/main" val="10311563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C4C095-BD87-4163-B35C-31643920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INVESTIGATION · EVIDENCE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360AA-DDB9-4A93-B0EB-99E3605D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Apply the three ideas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F9FD99-7732-4A53-ABA7-40B93182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5.7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f0d2fe5c64c40"/>
          <a:srcRect xmlns:a="http://schemas.openxmlformats.org/drawingml/2006/main" l="5492" t="0" r="54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24000"/>
            <a:ext cx="390525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F887C-0DCC-46C9-ADD7-792AF250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62100"/>
            <a:ext cx="6457950" cy="590550"/>
          </a:xfrm>
          <a:prstGeom xmlns:a="http://schemas.openxmlformats.org/drawingml/2006/main" prst="roundRect">
            <a:avLst>
              <a:gd name="adj" fmla="val 1290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045"/>
                </a:solidFill>
              </a:defRPr>
            </a:pPr>
            <a:r>
              <a:rPr sz="2100" b="1">
                <a:solidFill>
                  <a:srgbClr val="006045"/>
                </a:solidFill>
              </a:rPr>
              <a:t>Design decision matrix sprint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4A5CC-019C-4913-811F-CCC14A73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86000"/>
            <a:ext cx="6457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2C22"/>
                </a:solidFill>
              </a:defRPr>
            </a:pPr>
            <a:r>
              <a:rPr sz="1650" b="0">
                <a:solidFill>
                  <a:srgbClr val="002C22"/>
                </a:solidFill>
              </a:rPr>
              <a:t>Practise comparing alternatives fairly and making an evidence-based selection before practical 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81298-0692-42F9-8E84-0028DA6C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48050"/>
            <a:ext cx="6457950" cy="1866900"/>
          </a:xfrm>
          <a:prstGeom xmlns:a="http://schemas.openxmlformats.org/drawingml/2006/main" prst="roundRect">
            <a:avLst>
              <a:gd name="adj" fmla="val 61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Score three concepts and record evidence for every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Stress-test the leading concept against one changed constraint.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Write a recommendation and one prototype test rather than treating the score as automatic truth.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9F127F-70DB-4904-BD5A-68BD1EA7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467350"/>
            <a:ext cx="6457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36"/>
                </a:solidFill>
              </a:defRPr>
            </a:pPr>
            <a:r>
              <a:rPr sz="1350" b="1">
                <a:solidFill>
                  <a:srgbClr val="C70036"/>
                </a:solidFill>
              </a:rPr>
              <a:t>Keep: A completed decision matrix, evidence notes and a stress-tested recommendation saved as formative practice.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4E425-3B58-4717-9F3B-03984C9A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33589-5032-41F1-8DE1-1CC8D463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6F30E4-F64D-4AC0-9690-E04829E2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7 / 8</a:t>
            </a:r>
          </a:p>
        </p:txBody>
      </p:sp>
    </p:spTree>
    <p:extLst>
      <p:ext uri="{BB962C8B-B14F-4D97-AF65-F5344CB8AC3E}">
        <p14:creationId xmlns:p14="http://schemas.microsoft.com/office/powerpoint/2010/main" val="1392839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2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CB300-1E91-42AB-9071-09BEB425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334000" cy="3048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900"/>
                </a:solidFill>
              </a:defRPr>
            </a:pPr>
            <a:r>
              <a:rPr sz="1125" b="1">
                <a:solidFill>
                  <a:srgbClr val="FFB900"/>
                </a:solidFill>
              </a:rPr>
              <a:t>REVIEW · REPAIR · KEEP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F3785-87FA-466B-B544-BD886A2B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334250" cy="8001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Can you defend the decision?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B251A-3487-44E3-BE27-604D1011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667500" cy="2476500"/>
          </a:xfrm>
          <a:prstGeom xmlns:a="http://schemas.openxmlformats.org/drawingml/2006/main" prst="roundRect">
            <a:avLst>
              <a:gd name="adj" fmla="val 461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• 1. What does a food-consumption pattern describe?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• 2. Which example shows why processing is not automatically negative?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• 3. Which brief is most useful for beginning food design?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A7058-CA6F-4A50-B37D-A9FD69D9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66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B9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2C22"/>
                </a:solidFill>
              </a:defRPr>
            </a:pPr>
            <a:r>
              <a:rPr sz="1500" b="1">
                <a:solidFill>
                  <a:srgbClr val="002C22"/>
                </a:solidFill>
              </a:rPr>
              <a:t>Save the criteria matrix, two concepts, selection justification and test plan under Folio &gt; Responsible food design.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9F4B2-CB88-4E84-87F3-F85FA47D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38350"/>
            <a:ext cx="3695700" cy="40005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B900"/>
                </a:solidFill>
              </a:defRPr>
            </a:pPr>
            <a:r>
              <a:rPr sz="1500" b="1">
                <a:solidFill>
                  <a:srgbClr val="FFB900"/>
                </a:solidFill>
              </a:rPr>
              <a:t>Where this connects next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c1007e80ca465f"/>
          <a:srcRect xmlns:a="http://schemas.openxmlformats.org/drawingml/2006/main" l="5492" t="0" r="54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2590800"/>
            <a:ext cx="1714500" cy="1714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496c8eeb26491e"/>
          <a:srcRect xmlns:a="http://schemas.openxmlformats.org/drawingml/2006/main" l="5492" t="0" r="54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91700" y="2590800"/>
            <a:ext cx="1714500" cy="1714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B3CBA-F77B-444B-B748-093033D6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67250"/>
            <a:ext cx="3695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Save selected evidence in My folio. Browser saving is not submission.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25026-8F1F-45E5-AAAD-C8C40627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315075"/>
            <a:ext cx="8572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11487902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2026-08-27T16:30:18.4780000Z</dcterms:created>
  <dcterms:modified xsi:type="dcterms:W3CDTF">2026-08-27T16:30:18.4780000Z</dcterms:modified>
</coreProperties>
</file>