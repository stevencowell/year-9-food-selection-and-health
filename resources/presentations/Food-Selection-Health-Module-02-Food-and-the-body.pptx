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35b568888642ff" /><Relationship Type="http://schemas.openxmlformats.org/officeDocument/2006/relationships/extended-properties" Target="/docProps/app.xml" Id="R4db355a78dd64a91" /><Relationship Type="http://schemas.openxmlformats.org/officeDocument/2006/relationships/officeDocument" Target="/ppt/presentation.xml" Id="R087477c4b92b4e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c734ae81e441b0"/>
  </p:sldMasterIdLst>
  <p:notesMasterIdLst>
    <p:notesMasterId xmlns:r="http://schemas.openxmlformats.org/officeDocument/2006/relationships" r:id="R72a7feec203b4ad1"/>
  </p:notesMasterIdLst>
  <p:sldIdLst>
    <p:sldId xmlns:r="http://schemas.openxmlformats.org/officeDocument/2006/relationships" id="256" r:id="R338624d8f3814d12"/>
    <p:sldId xmlns:r="http://schemas.openxmlformats.org/officeDocument/2006/relationships" id="257" r:id="R6f007f8b3b354356"/>
    <p:sldId xmlns:r="http://schemas.openxmlformats.org/officeDocument/2006/relationships" id="258" r:id="Rc33426c3cbc749cf"/>
    <p:sldId xmlns:r="http://schemas.openxmlformats.org/officeDocument/2006/relationships" id="259" r:id="R0b35ef6b6bd94312"/>
    <p:sldId xmlns:r="http://schemas.openxmlformats.org/officeDocument/2006/relationships" id="260" r:id="Ra8300af245054c11"/>
    <p:sldId xmlns:r="http://schemas.openxmlformats.org/officeDocument/2006/relationships" id="261" r:id="Rd83e65695a214654"/>
    <p:sldId xmlns:r="http://schemas.openxmlformats.org/officeDocument/2006/relationships" id="262" r:id="Rcaa3316258e44aa1"/>
    <p:sldId xmlns:r="http://schemas.openxmlformats.org/officeDocument/2006/relationships" id="263" r:id="R2c8a4866fe0248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1a21ea460643ff" /><Relationship Type="http://schemas.openxmlformats.org/officeDocument/2006/relationships/slideMaster" Target="/ppt/slideMasters/slideMaster1.xml" Id="Rb7c734ae81e441b0" /><Relationship Type="http://schemas.openxmlformats.org/officeDocument/2006/relationships/notesMaster" Target="/ppt/notesMasters/notesMaster1.xml" Id="R72a7feec203b4ad1" /><Relationship Type="http://schemas.openxmlformats.org/officeDocument/2006/relationships/presProps" Target="/ppt/presProps.xml" Id="R3547fd77c57f483e" /><Relationship Type="http://schemas.openxmlformats.org/officeDocument/2006/relationships/tableStyles" Target="/ppt/tableStyles.xml" Id="R317f9bd362a646bd" /><Relationship Type="http://schemas.openxmlformats.org/officeDocument/2006/relationships/slide" Target="/ppt/slides/slide1.xml" Id="R338624d8f3814d12" /><Relationship Type="http://schemas.openxmlformats.org/officeDocument/2006/relationships/slide" Target="/ppt/slides/slide2.xml" Id="R6f007f8b3b354356" /><Relationship Type="http://schemas.openxmlformats.org/officeDocument/2006/relationships/slide" Target="/ppt/slides/slide3.xml" Id="Rc33426c3cbc749cf" /><Relationship Type="http://schemas.openxmlformats.org/officeDocument/2006/relationships/slide" Target="/ppt/slides/slide4.xml" Id="R0b35ef6b6bd94312" /><Relationship Type="http://schemas.openxmlformats.org/officeDocument/2006/relationships/slide" Target="/ppt/slides/slide5.xml" Id="Ra8300af245054c11" /><Relationship Type="http://schemas.openxmlformats.org/officeDocument/2006/relationships/slide" Target="/ppt/slides/slide6.xml" Id="Rd83e65695a214654" /><Relationship Type="http://schemas.openxmlformats.org/officeDocument/2006/relationships/slide" Target="/ppt/slides/slide7.xml" Id="Rcaa3316258e44aa1" /><Relationship Type="http://schemas.openxmlformats.org/officeDocument/2006/relationships/slide" Target="/ppt/slides/slide8.xml" Id="R2c8a4866fe0248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084ff7ce9149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23a38f21d3467f" /><Relationship Type="http://schemas.openxmlformats.org/officeDocument/2006/relationships/notesMaster" Target="/ppt/notesMasters/notesMaster1.xml" Id="R12443cb9112740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d77a5c4ed84543" /><Relationship Type="http://schemas.openxmlformats.org/officeDocument/2006/relationships/notesMaster" Target="/ppt/notesMasters/notesMaster1.xml" Id="Rca6ec16317ae45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8bd484bb3a4f05" /><Relationship Type="http://schemas.openxmlformats.org/officeDocument/2006/relationships/notesMaster" Target="/ppt/notesMasters/notesMaster1.xml" Id="Raff5629774f848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6d68048026468a" /><Relationship Type="http://schemas.openxmlformats.org/officeDocument/2006/relationships/notesMaster" Target="/ppt/notesMasters/notesMaster1.xml" Id="R31f41d7113ae46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e7214efd2d4274" /><Relationship Type="http://schemas.openxmlformats.org/officeDocument/2006/relationships/notesMaster" Target="/ppt/notesMasters/notesMaster1.xml" Id="R4b0733f372b449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92964b20874ee3" /><Relationship Type="http://schemas.openxmlformats.org/officeDocument/2006/relationships/notesMaster" Target="/ppt/notesMasters/notesMaster1.xml" Id="Rfe9631b64e904b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23e03d5d274231" /><Relationship Type="http://schemas.openxmlformats.org/officeDocument/2006/relationships/notesMaster" Target="/ppt/notesMasters/notesMaster1.xml" Id="Rec0eac2c2a6040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7ecbf2b4dc4719" /><Relationship Type="http://schemas.openxmlformats.org/officeDocument/2006/relationships/notesMaster" Target="/ppt/notesMasters/notesMaster1.xml" Id="R1abd897c2d584f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module around one defensible food decision. Use the context image to elicit what students notice before naming the three sections.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C:\Users\scowell1\Documents\Codex\2026-08-28\new-tas-course-site-builder-plugin-2\outputs\year-9-food-selection-and-health\assets\visual-m02-board.png</a:t>
            </a:r>
          </a:p>
          <a:p xmlns:a="http://schemas.openxmlformats.org/drawingml/2006/main">
            <a:r>
              <a:t>- Generated course identity asset: C:\Users\scowell1\Documents\Codex\2026-08-28\new-tas-course-site-builder-plugin-2\outputs\year-9-food-selection-and-health\assets\food-selection-health-hero.png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https://www.eatforhealth.gov.au/nutrient-reference-values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C:\Users\scowell1\Documents\Codex\2026-08-28\new-tas-course-site-builder-plugin-2\outputs\year-9-food-selection-and-health\_project\evidence\presentations\crops\module-02-q2.png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class moving through three clear stages. Invite one group to defend a choice using the concept language, then name the evidence students should retain.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https://www.eatforhealth.gov.au/nutrient-reference-values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https://www.eatforhealth.gov.au/guidelines</a:t>
            </a:r>
          </a:p>
          <a:p xmlns:a="http://schemas.openxmlformats.org/drawingml/2006/main">
            <a:r>
              <a:t>- https://www.eatforhealth.gov.au/eating-well/healthy-eating-throughout-all-life</a:t>
            </a:r>
          </a:p>
          <a:p xmlns:a="http://schemas.openxmlformats.org/drawingml/2006/main">
            <a:r>
              <a:t>- https://www.foodstandards.gov.au/consumer/labelling/panels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C:\Users\scowell1\Documents\Codex\2026-08-28\new-tas-course-site-builder-plugin-2\outputs\year-9-food-selection-and-health\_project\evidence\presentations\crops\module-02-q3.png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 claim, evidence and reasoning chain without dictating the response. Ask students to locate the trade-off or limit that keeps the conclusion defensible.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https://www.eatforhealth.gov.au/guidelines</a:t>
            </a:r>
          </a:p>
          <a:p xmlns:a="http://schemas.openxmlformats.org/drawingml/2006/main">
            <a:r>
              <a:t>- https://www.eatforhealth.gov.au/eating-well/healthy-eating-throughout-all-life</a:t>
            </a:r>
          </a:p>
          <a:p xmlns:a="http://schemas.openxmlformats.org/drawingml/2006/main">
            <a:r>
              <a:t>- https://www.foodstandards.gov.au/consumer/labelling/panels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https://www.healthdirect.gov.au/digestive-system</a:t>
            </a:r>
          </a:p>
          <a:p xmlns:a="http://schemas.openxmlformats.org/drawingml/2006/main">
            <a:r>
              <a:t>- https://www.eatforhealth.gov.au/nutrient-reference-values</a:t>
            </a:r>
          </a:p>
          <a:p xmlns:a="http://schemas.openxmlformats.org/drawingml/2006/main">
            <a:r>
              <a:t>- https://www.youtube.com/watch?v=Og5xAdC8EUI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C:\Users\scowell1\Documents\Codex\2026-08-28\new-tas-course-site-builder-plugin-2\outputs\year-9-food-selection-and-health\_project\evidence\presentations\crops\module-02-q4.png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handoff from explanation to applied evidence. The activity should remain formative unless the teacher explicitly links it to an approved formal task.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https://www.healthdirect.gov.au/digestive-system</a:t>
            </a:r>
          </a:p>
          <a:p xmlns:a="http://schemas.openxmlformats.org/drawingml/2006/main">
            <a:r>
              <a:t>- https://www.eatforhealth.gov.au/nutrient-reference-values</a:t>
            </a:r>
          </a:p>
          <a:p xmlns:a="http://schemas.openxmlformats.org/drawingml/2006/main">
            <a:r>
              <a:t>- https://www.youtube.com/watch?v=Og5xAdC8EUI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C:\Users\scowell1\Documents\Codex\2026-08-28\new-tas-course-site-builder-plugin-2\outputs\year-9-food-selection-and-health\_project\evidence\presentations\crops\module-02-q4.png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check. Reopen a section package where reasoning is weak, then direct students to the relevant folio stage.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course identity asset: C:\Users\scowell1\Documents\Codex\2026-08-28\new-tas-course-site-builder-plugin-2\outputs\year-9-food-selection-and-health\assets\food-selection-health-hero.png</a:t>
            </a:r>
          </a:p>
          <a:p xmlns:a="http://schemas.openxmlformats.org/drawingml/2006/main">
            <a:r>
              <a:t>- Generated adjacent-module context asset: C:\Users\scowell1\Documents\Codex\2026-08-28\new-tas-course-site-builder-plugin-2\outputs\year-9-food-selection-and-health\_project\evidence\presentations\crops\module-01-q1.png</a:t>
            </a:r>
          </a:p>
          <a:p xmlns:a="http://schemas.openxmlformats.org/drawingml/2006/main">
            <a:r>
              <a:t>- Generated adjacent-module context asset: C:\Users\scowell1\Documents\Codex\2026-08-28\new-tas-course-site-builder-plugin-2\outputs\year-9-food-selection-and-health\_project\evidence\presentations\crops\module-03-q1.png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24deb3c7447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c63fb78aed4c27" /><Relationship Type="http://schemas.openxmlformats.org/officeDocument/2006/relationships/slideLayout" Target="/ppt/slideLayouts/slideLayout1.xml" Id="R10de85715d8c4b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de85715d8c4b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6d7c28a5f46de" /><Relationship Type="http://schemas.openxmlformats.org/officeDocument/2006/relationships/image" Target="/ppt/media/image.png" Id="R91413d4bc9e04e44" /><Relationship Type="http://schemas.openxmlformats.org/officeDocument/2006/relationships/notesSlide" Target="/ppt/notesSlides/notesSlide1.xml" Id="Rd8a8517f158442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05902593141f2" /><Relationship Type="http://schemas.openxmlformats.org/officeDocument/2006/relationships/image" Target="/ppt/media/image2.png" Id="Rbc6e0da3b8ff483f" /><Relationship Type="http://schemas.openxmlformats.org/officeDocument/2006/relationships/notesSlide" Target="/ppt/notesSlides/notesSlide2.xml" Id="R177b9645f8f648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6553d701a4b84" /><Relationship Type="http://schemas.openxmlformats.org/officeDocument/2006/relationships/notesSlide" Target="/ppt/notesSlides/notesSlide3.xml" Id="R429d8b7c079640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ce650a1134539" /><Relationship Type="http://schemas.openxmlformats.org/officeDocument/2006/relationships/image" Target="/ppt/media/image3.png" Id="R5db228f50bd94a87" /><Relationship Type="http://schemas.openxmlformats.org/officeDocument/2006/relationships/notesSlide" Target="/ppt/notesSlides/notesSlide4.xml" Id="R8a772246976348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7eb5784ce47b6" /><Relationship Type="http://schemas.openxmlformats.org/officeDocument/2006/relationships/notesSlide" Target="/ppt/notesSlides/notesSlide5.xml" Id="Ra8fc218d1d7249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2bb4a800a45d0" /><Relationship Type="http://schemas.openxmlformats.org/officeDocument/2006/relationships/image" Target="/ppt/media/image4.png" Id="R685b62c690574fe0" /><Relationship Type="http://schemas.openxmlformats.org/officeDocument/2006/relationships/notesSlide" Target="/ppt/notesSlides/notesSlide6.xml" Id="R99a2baf276f040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55effaf2c47f4" /><Relationship Type="http://schemas.openxmlformats.org/officeDocument/2006/relationships/image" Target="/ppt/media/image5.png" Id="R3ae350693909469d" /><Relationship Type="http://schemas.openxmlformats.org/officeDocument/2006/relationships/notesSlide" Target="/ppt/notesSlides/notesSlide7.xml" Id="Rc95c873f9fde4c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c7b0ade184868" /><Relationship Type="http://schemas.openxmlformats.org/officeDocument/2006/relationships/image" Target="/ppt/media/image6.png" Id="R97fc10a53782441a" /><Relationship Type="http://schemas.openxmlformats.org/officeDocument/2006/relationships/image" Target="/ppt/media/image7.png" Id="Rba984749a20440de" /><Relationship Type="http://schemas.openxmlformats.org/officeDocument/2006/relationships/notesSlide" Target="/ppt/notesSlides/notesSlide8.xml" Id="Racf3fbe621324b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13d4bc9e04e44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96EFB-A52A-41FB-9217-CA65D8D4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D6E9D-425B-4B6A-9049-0B091B2A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5334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36"/>
                </a:solidFill>
              </a:defRPr>
            </a:pPr>
            <a:r>
              <a:rPr sz="1125" b="1">
                <a:solidFill>
                  <a:srgbClr val="C70036"/>
                </a:solidFill>
              </a:rPr>
              <a:t>MODULE 2 · YEAR 9 FOOD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8F24A-7515-4F45-87F3-3653618F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5429250" cy="1809750"/>
          </a:xfrm>
          <a:prstGeom xmlns:a="http://schemas.openxmlformats.org/drawingml/2006/main" prst="roundRect">
            <a:avLst>
              <a:gd name="adj" fmla="val 42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2C22"/>
                </a:solidFill>
              </a:defRPr>
            </a:pPr>
            <a:r>
              <a:rPr sz="3900" b="1">
                <a:solidFill>
                  <a:srgbClr val="002C22"/>
                </a:solidFill>
              </a:rPr>
              <a:t>Food and the body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D8DD1-BC15-458B-91C5-61EAB1DE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5191125" cy="1476375"/>
          </a:xfrm>
          <a:prstGeom xmlns:a="http://schemas.openxmlformats.org/drawingml/2006/main" prst="roundRect">
            <a:avLst>
              <a:gd name="adj" fmla="val 51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D"/>
                </a:solidFill>
              </a:defRPr>
            </a:pPr>
            <a:r>
              <a:rPr sz="1725" b="0">
                <a:solidFill>
                  <a:srgbClr val="57534D"/>
                </a:solidFill>
              </a:rPr>
              <a:t>Students explain how nutrients, energy and digestion interact, then apply that understanding to balanced choices without moralising individual foods.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F0034-7FE5-4B63-A3DC-C01E51DA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045"/>
                </a:solidFill>
              </a:defRPr>
            </a:pPr>
            <a:r>
              <a:rPr sz="1575" b="1">
                <a:solidFill>
                  <a:srgbClr val="006045"/>
                </a:solidFill>
              </a:rPr>
              <a:t>Notice → Question → Evidence →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4D806-C456-49E1-AD01-D8198848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534D"/>
                </a:solidFill>
              </a:defRPr>
            </a:pPr>
            <a:r>
              <a:rPr sz="900" b="1">
                <a:solidFill>
                  <a:srgbClr val="57534D"/>
                </a:solidFill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1542015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98BE5-EB25-433E-87A7-ABCC6D3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1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BDEF0-C488-4835-B5B6-8B1DBB98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Six nutrients and their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50BA5-8C53-4425-9FDC-726D4055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2.2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e0da3b8ff48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24000"/>
            <a:ext cx="50292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07D72-8381-4F77-AC91-F08AD6A0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Explain the main roles of carbohydrate, protein, fat, vitamins, minerals and water, and connect varied foods to complementary body functions.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29DD9-3397-4CED-BEDA-A0F5AD62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distinguish energy-yielding nutrients from regulatory nutrients.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link each nutrient group to varied food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explain why one food or supplement cannot replace variety.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84F3A-942F-45A4-9D87-EAC6EF85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Choose two foods and explain how their nutrient contributions overlap and complement each other.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D7134-1D4D-48EC-813D-9E967168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67150-1BA6-4999-8419-C5D6C0A7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CF25D-B542-42B0-A795-8C261C63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807621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7FE70-B6B6-4838-AF59-082AFE4B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SECTION 2.1 · DECIDE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F7D5B-5111-41C0-922E-3943684A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More than one nutrient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BE3F0-B510-4C2E-94D8-F350B382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CF2AC-831B-4AE5-B92C-16D13CF2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045"/>
                </a:solidFill>
              </a:defRPr>
            </a:pPr>
            <a:r>
              <a:rPr sz="1800" b="1">
                <a:solidFill>
                  <a:srgbClr val="006045"/>
                </a:solidFill>
              </a:rPr>
              <a:t>Break the one-food–one-nutrient misconception.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1C0D4-45C1-4139-A859-CD5455E0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3DC20-8719-44C0-9FB0-9BE067B6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238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C22"/>
                </a:solidFill>
              </a:defRPr>
            </a:pPr>
            <a:r>
              <a:rPr sz="1575" b="1">
                <a:solidFill>
                  <a:srgbClr val="002C22"/>
                </a:solidFill>
              </a:rPr>
              <a:t>Choose six foods from at least four food groups.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02148-4E51-47E5-93A7-E8CE4F54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700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2EDA1-9987-49DD-9D25-E530CA0E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3238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C22"/>
                </a:solidFill>
              </a:defRPr>
            </a:pPr>
            <a:r>
              <a:rPr sz="1575" b="1">
                <a:solidFill>
                  <a:srgbClr val="002C22"/>
                </a:solidFill>
              </a:rPr>
              <a:t>Attach at least two defensible nutrient labels to 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5F2AD-3AC4-4D70-9729-262F2B45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4AB22-89AB-4986-9EBF-6B7A7C45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67100"/>
            <a:ext cx="3238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C22"/>
                </a:solidFill>
              </a:defRPr>
            </a:pPr>
            <a:r>
              <a:rPr sz="1575" b="1">
                <a:solidFill>
                  <a:srgbClr val="002C22"/>
                </a:solidFill>
              </a:rPr>
              <a:t>Place foods across one or more function zones.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E6767-0680-4117-977A-B18B3F7E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C22"/>
                </a:solidFill>
              </a:defRPr>
            </a:pPr>
            <a:r>
              <a:rPr sz="1500" b="1">
                <a:solidFill>
                  <a:srgbClr val="002C22"/>
                </a:solidFill>
              </a:rPr>
              <a:t>Evidence to keep: A photographed sorting mat and 100-word explanation of one complementary pairing.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54067-61BB-416F-A6D9-713B57E6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9F8E1-6C24-4FF8-A1AF-B0BEAC8E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D6988-BEC9-4087-8652-384F4FE8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454005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E3282-FBBB-43ED-B2E6-91501ABB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2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8EE52-7EBA-45F6-B202-378CD3BA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Energy, growth and repair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B4BB8-4ADC-4AD0-996D-C6212019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2.4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228f50bd94a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50292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44AA1-2AF2-44D3-89BD-649C908A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Explain energy balance and nutrient density, then apply both ideas to a realistic adolescent meal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CF4BE-008C-4D96-B2F0-6E479C6C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explain energy intake and use over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distinguish kilojoules from nutrient density.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justify a choice using context, portion and overall pattern.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A5785-8DDC-4481-824B-16B163A2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Compare energy, nutrients, portion and how long each meal needs to sustain the eater.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347E8-23E0-40CB-BA4A-D8C58EF2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47897-9157-4974-87AE-EAB6126A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EF83A-9694-4C2D-A6DB-A4517FA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508922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A53C0-438D-4103-A96E-D162568B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SECTION 2.2 · HIGHER-ORDER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2C048-7CB1-4B0E-BFC1-AB7CACC8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Compare, decide and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6D485-1A8E-4649-9E1C-AC981B85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D2F9A-5822-4DAB-AA9D-E2403034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2C22"/>
                </a:solidFill>
              </a:defRPr>
            </a:pPr>
            <a:r>
              <a:rPr sz="1725" b="1">
                <a:solidFill>
                  <a:srgbClr val="002C22"/>
                </a:solidFill>
              </a:rPr>
              <a:t>Compare two lunch options for a Year 9 student with afternoon sport or physical practical work. Justify the stronger fit using energy, nutrient density, portion and pattern, then explain what could change the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6DE0F-5FCC-49AA-8B83-E136DFB9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STIMULUS — Alex eats at 1.00 pm and has 80 minutes of sport at 3.30 pm. A: wholegrain chicken-and-salad wrap, plain yoghurt, banana and water. B: cheese-and-cracker snack pack, apple purée, 300 mL flavoured milk and water. Portion, allergy, cultural and medical details are not supplied.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C043C-3DBF-4FAD-AE1F-6C607101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1432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36"/>
                </a:solidFill>
              </a:defRPr>
            </a:pPr>
            <a:r>
              <a:rPr sz="1650" b="1">
                <a:solidFill>
                  <a:srgbClr val="C70036"/>
                </a:solidFill>
              </a:rPr>
              <a:t>Build the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79DD0-8786-4DC4-8F4D-DBB4FBA9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66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Describe the eater's activity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Compare options on a common basis and realistic portion.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Identify carbohydrate, protein, plant-food and fluid contributions.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1C728-7500-486C-B75D-1A3E5E3A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37528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045"/>
                </a:solidFill>
              </a:defRPr>
            </a:pPr>
            <a:r>
              <a:rPr sz="1650" b="1">
                <a:solidFill>
                  <a:srgbClr val="006045"/>
                </a:solidFill>
              </a:rPr>
              <a:t>Strong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84D8A-787F-472B-A898-61583FE6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37528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Keeps kilojoules and nutrient density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Connects choice to growth, activity and repair.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Considers portion and pattern.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AD63F-E279-4214-88E0-65AB338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38777-C501-418A-9786-3809414C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B5D41-C684-46B9-9596-D6C0637E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623884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D43E7-52C7-40FF-95E9-5022F45C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3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D71C2-3FB3-4A7C-B5ED-A3EF383C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Digestion and nutrient absorption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9090A-0105-4727-9747-53B21295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2.6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b62c690574f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24000"/>
            <a:ext cx="50292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559E6-C0FB-420D-AC81-F7E604B5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Trace mechanical and chemical processing through the digestive system and explain how structure supports absorption.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8A4C1-3628-427B-AC47-7A47DC19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sequence major digestive organs and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distinguish digestion from absorption.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explain enzymes, bile, villi, water and fibre.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94E34-53BF-4946-B9A1-32C18226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Trace one bite: name each change and decide whether digestion or absorption is occurring.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5C808-6129-43DB-A764-4FCBEAF5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A7A0B-CFC6-4FB2-B6B5-30B7ED5E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0D201-EF01-41F2-AB50-B0A13F51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4686336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4D953-E2A9-4CE9-9792-C197E7C3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INVESTIGATION · EVIDENCE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23352-DC43-4C2C-AD27-186A63B6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Apply the three ideas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2F721-A087-4AF8-81F0-262F2351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2.7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350693909469d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390525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CE96E-B0FB-4FE8-B1DE-7F962994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62100"/>
            <a:ext cx="6457950" cy="590550"/>
          </a:xfrm>
          <a:prstGeom xmlns:a="http://schemas.openxmlformats.org/drawingml/2006/main" prst="roundRect">
            <a:avLst>
              <a:gd name="adj" fmla="val 1290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045"/>
                </a:solidFill>
              </a:defRPr>
            </a:pPr>
            <a:r>
              <a:rPr sz="2100" b="1">
                <a:solidFill>
                  <a:srgbClr val="006045"/>
                </a:solidFill>
              </a:rPr>
              <a:t>Digestive journey relay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BE801-9292-4309-B7EE-96412061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6457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C22"/>
                </a:solidFill>
              </a:defRPr>
            </a:pPr>
            <a:r>
              <a:rPr sz="1650" b="0">
                <a:solidFill>
                  <a:srgbClr val="002C22"/>
                </a:solidFill>
              </a:rPr>
              <a:t>Rehearse organ order and separate movement, digestion and absorption.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49155-FD14-4FAA-B959-9741CE04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48050"/>
            <a:ext cx="6457950" cy="1866900"/>
          </a:xfrm>
          <a:prstGeom xmlns:a="http://schemas.openxmlformats.org/drawingml/2006/main" prst="roundRect">
            <a:avLst>
              <a:gd name="adj" fmla="val 61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Transform food into smaller molecule cards where justified.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Move absorbable molecules into blood or lymph lanes.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Explain and correct one misplaced card.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23068-7A7E-4DF8-A25C-0A4F470D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6457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36"/>
                </a:solidFill>
              </a:defRPr>
            </a:pPr>
            <a:r>
              <a:rPr sz="1350" b="1">
                <a:solidFill>
                  <a:srgbClr val="C70036"/>
                </a:solidFill>
              </a:rPr>
              <a:t>Keep: An annotated pathway and explanation of why the small intestine is the main absorption site.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DD3A1-9E7A-45A0-90D8-9DF1A225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C3D8D-7209-4666-845D-3F463379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4E629-1549-4F26-9F46-B2A82063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1432612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2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43E03-F881-46B8-8D11-60405C20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304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900"/>
                </a:solidFill>
              </a:defRPr>
            </a:pPr>
            <a:r>
              <a:rPr sz="1125" b="1">
                <a:solidFill>
                  <a:srgbClr val="FFB900"/>
                </a:solidFill>
              </a:rPr>
              <a:t>REVIEW · REPAIR · KEEP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76686-559D-4DDD-A86C-610813CC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334250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Can you defend the decision?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BDC05-66E4-433E-9ABE-07257DAD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2476500"/>
          </a:xfrm>
          <a:prstGeom xmlns:a="http://schemas.openxmlformats.org/drawingml/2006/main" prst="roundRect">
            <a:avLst>
              <a:gd name="adj" fmla="val 46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1. Which three nutrients can supply energy measured in kilojoules?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2. What does a kilojoule measure?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3. What is the difference between digestion and absorption?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570DB-6909-4107-82B6-0C3F1FD2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6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C22"/>
                </a:solidFill>
              </a:defRPr>
            </a:pPr>
            <a:r>
              <a:rPr sz="1500" b="1">
                <a:solidFill>
                  <a:srgbClr val="002C22"/>
                </a:solidFill>
              </a:rPr>
              <a:t>Save as “M2.3 Journey of a mixed meal” with an organ flow and digestion-versus-absorption key.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828AD-C8E6-4D33-9A2E-98EF5859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369570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900"/>
                </a:solidFill>
              </a:defRPr>
            </a:pPr>
            <a:r>
              <a:rPr sz="1500" b="1">
                <a:solidFill>
                  <a:srgbClr val="FFB900"/>
                </a:solidFill>
              </a:rPr>
              <a:t>Where this connects next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c10a53782441a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590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84749a20440de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1700" y="2590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1CF86-D140-433E-8E94-BE8B5579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3695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Save selected evidence in My folio. Browser saving is not submission.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BCBFE-892A-4B42-8F50-EBE0197F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15075"/>
            <a:ext cx="857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312290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2026-08-27T16:30:13.2420000Z</dcterms:created>
  <dcterms:modified xsi:type="dcterms:W3CDTF">2026-08-27T16:30:13.2420000Z</dcterms:modified>
</coreProperties>
</file>