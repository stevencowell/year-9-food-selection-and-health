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60c4c6a7e74214" /><Relationship Type="http://schemas.openxmlformats.org/officeDocument/2006/relationships/extended-properties" Target="/docProps/app.xml" Id="Rf7d4605509634460" /><Relationship Type="http://schemas.openxmlformats.org/officeDocument/2006/relationships/officeDocument" Target="/ppt/presentation.xml" Id="Rcf58afb9a4974a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52ac560fb44e20"/>
  </p:sldMasterIdLst>
  <p:notesMasterIdLst>
    <p:notesMasterId xmlns:r="http://schemas.openxmlformats.org/officeDocument/2006/relationships" r:id="R85f22dd4959e4b18"/>
  </p:notesMasterIdLst>
  <p:sldIdLst>
    <p:sldId xmlns:r="http://schemas.openxmlformats.org/officeDocument/2006/relationships" id="256" r:id="R5a5a43e0b367452c"/>
    <p:sldId xmlns:r="http://schemas.openxmlformats.org/officeDocument/2006/relationships" id="257" r:id="Recad419df62f4606"/>
    <p:sldId xmlns:r="http://schemas.openxmlformats.org/officeDocument/2006/relationships" id="258" r:id="R679697f34ebd484d"/>
    <p:sldId xmlns:r="http://schemas.openxmlformats.org/officeDocument/2006/relationships" id="259" r:id="Ra09be0681fbb463f"/>
    <p:sldId xmlns:r="http://schemas.openxmlformats.org/officeDocument/2006/relationships" id="260" r:id="Rb6f755b03e2e4427"/>
    <p:sldId xmlns:r="http://schemas.openxmlformats.org/officeDocument/2006/relationships" id="261" r:id="R6e83312f95934072"/>
    <p:sldId xmlns:r="http://schemas.openxmlformats.org/officeDocument/2006/relationships" id="262" r:id="R75c29ec5b8e4440a"/>
    <p:sldId xmlns:r="http://schemas.openxmlformats.org/officeDocument/2006/relationships" id="263" r:id="R42ec6445880641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38244e30e34c58" /><Relationship Type="http://schemas.openxmlformats.org/officeDocument/2006/relationships/slideMaster" Target="/ppt/slideMasters/slideMaster1.xml" Id="Re152ac560fb44e20" /><Relationship Type="http://schemas.openxmlformats.org/officeDocument/2006/relationships/notesMaster" Target="/ppt/notesMasters/notesMaster1.xml" Id="R85f22dd4959e4b18" /><Relationship Type="http://schemas.openxmlformats.org/officeDocument/2006/relationships/presProps" Target="/ppt/presProps.xml" Id="Rba4b1a1e203c4505" /><Relationship Type="http://schemas.openxmlformats.org/officeDocument/2006/relationships/tableStyles" Target="/ppt/tableStyles.xml" Id="Re43406df95c14f8c" /><Relationship Type="http://schemas.openxmlformats.org/officeDocument/2006/relationships/slide" Target="/ppt/slides/slide1.xml" Id="R5a5a43e0b367452c" /><Relationship Type="http://schemas.openxmlformats.org/officeDocument/2006/relationships/slide" Target="/ppt/slides/slide2.xml" Id="Recad419df62f4606" /><Relationship Type="http://schemas.openxmlformats.org/officeDocument/2006/relationships/slide" Target="/ppt/slides/slide3.xml" Id="R679697f34ebd484d" /><Relationship Type="http://schemas.openxmlformats.org/officeDocument/2006/relationships/slide" Target="/ppt/slides/slide4.xml" Id="Ra09be0681fbb463f" /><Relationship Type="http://schemas.openxmlformats.org/officeDocument/2006/relationships/slide" Target="/ppt/slides/slide5.xml" Id="Rb6f755b03e2e4427" /><Relationship Type="http://schemas.openxmlformats.org/officeDocument/2006/relationships/slide" Target="/ppt/slides/slide6.xml" Id="R6e83312f95934072" /><Relationship Type="http://schemas.openxmlformats.org/officeDocument/2006/relationships/slide" Target="/ppt/slides/slide7.xml" Id="R75c29ec5b8e4440a" /><Relationship Type="http://schemas.openxmlformats.org/officeDocument/2006/relationships/slide" Target="/ppt/slides/slide8.xml" Id="R42ec6445880641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381e15c6da4b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dc5542a5194ade" /><Relationship Type="http://schemas.openxmlformats.org/officeDocument/2006/relationships/notesMaster" Target="/ppt/notesMasters/notesMaster1.xml" Id="R00f3c104d27743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67948f17d24dfe" /><Relationship Type="http://schemas.openxmlformats.org/officeDocument/2006/relationships/notesMaster" Target="/ppt/notesMasters/notesMaster1.xml" Id="Re2366a351d524c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f7c269f81546de" /><Relationship Type="http://schemas.openxmlformats.org/officeDocument/2006/relationships/notesMaster" Target="/ppt/notesMasters/notesMaster1.xml" Id="Rc654779f4c8849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e43365c87e4eb0" /><Relationship Type="http://schemas.openxmlformats.org/officeDocument/2006/relationships/notesMaster" Target="/ppt/notesMasters/notesMaster1.xml" Id="R19103d98463142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5ff24aa3954ecf" /><Relationship Type="http://schemas.openxmlformats.org/officeDocument/2006/relationships/notesMaster" Target="/ppt/notesMasters/notesMaster1.xml" Id="R4cda81ea1a0642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754dc40c19492c" /><Relationship Type="http://schemas.openxmlformats.org/officeDocument/2006/relationships/notesMaster" Target="/ppt/notesMasters/notesMaster1.xml" Id="R5b7d7c4580d94e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66313870d44e27" /><Relationship Type="http://schemas.openxmlformats.org/officeDocument/2006/relationships/notesMaster" Target="/ppt/notesMasters/notesMaster1.xml" Id="Rb7b0934f998d47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b915af8120484f" /><Relationship Type="http://schemas.openxmlformats.org/officeDocument/2006/relationships/notesMaster" Target="/ppt/notesMasters/notesMaster1.xml" Id="R0c1169d152f544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module around one defensible food decision. Use the context image to elicit what students notice before naming the three sections.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C:\Users\scowell1\Documents\Codex\2026-08-28\new-tas-course-site-builder-plugin-2\outputs\year-9-food-selection-and-health\assets\visual-m01-board.png</a:t>
            </a:r>
          </a:p>
          <a:p xmlns:a="http://schemas.openxmlformats.org/drawingml/2006/main">
            <a:r>
              <a:t>- Generated course identity asset: C:\Users\scowell1\Documents\Codex\2026-08-28\new-tas-course-site-builder-plugin-2\outputs\year-9-food-selection-and-health\assets\food-selection-health-hero.png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https://www.foodauthority.nsw.gov.au/consumer/food-at-home</a:t>
            </a:r>
          </a:p>
          <a:p xmlns:a="http://schemas.openxmlformats.org/drawingml/2006/main">
            <a:r>
              <a:t>- https://www.foodstandards.gov.au/consumer/safety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C:\Users\scowell1\Documents\Codex\2026-08-28\new-tas-course-site-builder-plugin-2\outputs\year-9-food-selection-and-health\_project\evidence\presentations\crops\module-01-q2.png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class moving through three clear stages. Invite one group to defend a choice using the concept language, then name the evidence students should retain.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https://www.foodauthority.nsw.gov.au/consumer/food-at-home</a:t>
            </a:r>
          </a:p>
          <a:p xmlns:a="http://schemas.openxmlformats.org/drawingml/2006/main">
            <a:r>
              <a:t>- https://www.foodstandards.gov.au/consumer/safety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https://www.foodstandards.gov.au/consumer/safety</a:t>
            </a:r>
          </a:p>
          <a:p xmlns:a="http://schemas.openxmlformats.org/drawingml/2006/main">
            <a:r>
              <a:t>- https://www.foodstandards.gov.au/business/food-safety/2-hour-4-hour-rule</a:t>
            </a:r>
          </a:p>
          <a:p xmlns:a="http://schemas.openxmlformats.org/drawingml/2006/main">
            <a:r>
              <a:t>- https://www.foodauthority.nsw.gov.au/consumer/food-at-home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C:\Users\scowell1\Documents\Codex\2026-08-28\new-tas-course-site-builder-plugin-2\outputs\year-9-food-selection-and-health\_project\evidence\presentations\crops\module-01-q3.png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 claim, evidence and reasoning chain without dictating the response. Ask students to locate the trade-off or limit that keeps the conclusion defensible.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https://www.foodstandards.gov.au/consumer/safety</a:t>
            </a:r>
          </a:p>
          <a:p xmlns:a="http://schemas.openxmlformats.org/drawingml/2006/main">
            <a:r>
              <a:t>- https://www.foodstandards.gov.au/business/food-safety/2-hour-4-hour-rule</a:t>
            </a:r>
          </a:p>
          <a:p xmlns:a="http://schemas.openxmlformats.org/drawingml/2006/main">
            <a:r>
              <a:t>- https://www.foodauthority.nsw.gov.au/consumer/food-at-home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learning intention through the visual. Ask students to state what the image can support and what it cannot prove. Address the first likely misconception before moving on.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https://www.safework.nsw.gov.au/hazards-a-z</a:t>
            </a:r>
          </a:p>
          <a:p xmlns:a="http://schemas.openxmlformats.org/drawingml/2006/main">
            <a:r>
              <a:t>- https://www.foodauthority.nsw.gov.au/consumer/food-at-home</a:t>
            </a:r>
          </a:p>
          <a:p xmlns:a="http://schemas.openxmlformats.org/drawingml/2006/main">
            <a:r>
              <a:t>- https://www.healthdirect.gov.au/burns-and-scalds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C:\Users\scowell1\Documents\Codex\2026-08-28\new-tas-course-site-builder-plugin-2\outputs\year-9-food-selection-and-health\_project\evidence\presentations\crops\module-01-q4.png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handoff from explanation to applied evidence. The activity should remain formative unless the teacher explicitly links it to an approved formal task.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https://www.safework.nsw.gov.au/hazards-a-z</a:t>
            </a:r>
          </a:p>
          <a:p xmlns:a="http://schemas.openxmlformats.org/drawingml/2006/main">
            <a:r>
              <a:t>- https://www.foodauthority.nsw.gov.au/consumer/food-at-home</a:t>
            </a:r>
          </a:p>
          <a:p xmlns:a="http://schemas.openxmlformats.org/drawingml/2006/main">
            <a:r>
              <a:t>- https://www.healthdirect.gov.au/burns-and-scalds</a:t>
            </a:r>
          </a:p>
          <a:p xmlns:a="http://schemas.openxmlformats.org/drawingml/2006/main">
            <a:r>
              <a:t>- Generated visual asset: C:\Users\scowell1\Documents\Codex\2026-08-28\new-tas-course-site-builder-plugin-2\outputs\year-9-food-selection-and-health\_project\evidence\presentations\crops\module-01-q4.png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prompts as an exit check. Reopen a section package where reasoning is weak, then direct students to the relevant folio stage.</a:t>
            </a:r>
          </a:p>
          <a:p xmlns:a="http://schemas.openxmlformats.org/drawingml/2006/main">
            <a:r>
              <a:t>Pause for a student explanation before revealing or summarising the next idea.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https://curriculum.nsw.edu.au/learning-areas/tas/food-technology-7-10-2025/outcomes</a:t>
            </a:r>
          </a:p>
          <a:p xmlns:a="http://schemas.openxmlformats.org/drawingml/2006/main">
            <a:r>
              <a:t>- Generated course identity asset: C:\Users\scowell1\Documents\Codex\2026-08-28\new-tas-course-site-builder-plugin-2\outputs\year-9-food-selection-and-health\assets\food-selection-health-hero.png</a:t>
            </a:r>
          </a:p>
          <a:p xmlns:a="http://schemas.openxmlformats.org/drawingml/2006/main">
            <a:r>
              <a:t>- Generated adjacent-module context asset: C:\Users\scowell1\Documents\Codex\2026-08-28\new-tas-course-site-builder-plugin-2\outputs\year-9-food-selection-and-health\_project\evidence\presentations\crops\module-02-q1.png</a:t>
            </a:r>
          </a:p>
          <a:p xmlns:a="http://schemas.openxmlformats.org/drawingml/2006/main">
            <a:r>
              <a:t>- Generated adjacent-module context asset: C:\Users\scowell1\Documents\Codex\2026-08-28\new-tas-course-site-builder-plugin-2\outputs\year-9-food-selection-and-health\_project\evidence\presentations\crops\module-03-q1.png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922b9ac1346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99d9d5b37c4661" /><Relationship Type="http://schemas.openxmlformats.org/officeDocument/2006/relationships/slideLayout" Target="/ppt/slideLayouts/slideLayout1.xml" Id="R5cc84a21f41243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c84a21f41243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1d0eb788a499a" /><Relationship Type="http://schemas.openxmlformats.org/officeDocument/2006/relationships/image" Target="/ppt/media/image.png" Id="R51984420cd754f37" /><Relationship Type="http://schemas.openxmlformats.org/officeDocument/2006/relationships/notesSlide" Target="/ppt/notesSlides/notesSlide1.xml" Id="R921985f3bc8c4b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4d0ff812540d1" /><Relationship Type="http://schemas.openxmlformats.org/officeDocument/2006/relationships/image" Target="/ppt/media/image2.png" Id="R7fb8035388974ecd" /><Relationship Type="http://schemas.openxmlformats.org/officeDocument/2006/relationships/notesSlide" Target="/ppt/notesSlides/notesSlide2.xml" Id="R48f887a4ee1c48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0243758f24c1d" /><Relationship Type="http://schemas.openxmlformats.org/officeDocument/2006/relationships/notesSlide" Target="/ppt/notesSlides/notesSlide3.xml" Id="Rfa31c799598e4c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47144aa714805" /><Relationship Type="http://schemas.openxmlformats.org/officeDocument/2006/relationships/image" Target="/ppt/media/image3.png" Id="R2d1f780be8284c91" /><Relationship Type="http://schemas.openxmlformats.org/officeDocument/2006/relationships/notesSlide" Target="/ppt/notesSlides/notesSlide4.xml" Id="R2084ffca2a714c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4e0fff1f54336" /><Relationship Type="http://schemas.openxmlformats.org/officeDocument/2006/relationships/notesSlide" Target="/ppt/notesSlides/notesSlide5.xml" Id="Re521834ede1040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9a76e0df5f4063" /><Relationship Type="http://schemas.openxmlformats.org/officeDocument/2006/relationships/image" Target="/ppt/media/image4.png" Id="Rfad9d2de36aa4d10" /><Relationship Type="http://schemas.openxmlformats.org/officeDocument/2006/relationships/notesSlide" Target="/ppt/notesSlides/notesSlide6.xml" Id="Ra00a55dbcb5843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07ae29b5448dd" /><Relationship Type="http://schemas.openxmlformats.org/officeDocument/2006/relationships/image" Target="/ppt/media/image5.png" Id="R1ea3d939711a468f" /><Relationship Type="http://schemas.openxmlformats.org/officeDocument/2006/relationships/notesSlide" Target="/ppt/notesSlides/notesSlide7.xml" Id="R1f21f171943743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53eda71b34ad6" /><Relationship Type="http://schemas.openxmlformats.org/officeDocument/2006/relationships/image" Target="/ppt/media/image6.png" Id="R4066775f22e640af" /><Relationship Type="http://schemas.openxmlformats.org/officeDocument/2006/relationships/image" Target="/ppt/media/image7.png" Id="R4a765d18193d45a0" /><Relationship Type="http://schemas.openxmlformats.org/officeDocument/2006/relationships/notesSlide" Target="/ppt/notesSlides/notesSlide8.xml" Id="Re4b31ca9eb0d4b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84420cd754f37"/>
          <a:srcRect xmlns:a="http://schemas.openxmlformats.org/drawingml/2006/main" l="26941" t="0" r="269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93294-7E92-49B1-A3E7-E990F78A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BE826-9325-4834-905E-8975AF2B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5334000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0036"/>
                </a:solidFill>
              </a:defRPr>
            </a:pPr>
            <a:r>
              <a:rPr sz="1125" b="1">
                <a:solidFill>
                  <a:srgbClr val="C70036"/>
                </a:solidFill>
              </a:rPr>
              <a:t>MODULE 1 · YEAR 9 FOOD 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BA5DB-943F-4E29-9BF6-94F89BE7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5429250" cy="1809750"/>
          </a:xfrm>
          <a:prstGeom xmlns:a="http://schemas.openxmlformats.org/drawingml/2006/main" prst="roundRect">
            <a:avLst>
              <a:gd name="adj" fmla="val 42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02C22"/>
                </a:solidFill>
              </a:defRPr>
            </a:pPr>
            <a:r>
              <a:rPr sz="3900" b="1">
                <a:solidFill>
                  <a:srgbClr val="002C22"/>
                </a:solidFill>
              </a:rPr>
              <a:t>Ready to work safely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0902F-473E-48C7-A741-A2A84BCE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5191125" cy="1476375"/>
          </a:xfrm>
          <a:prstGeom xmlns:a="http://schemas.openxmlformats.org/drawingml/2006/main" prst="roundRect">
            <a:avLst>
              <a:gd name="adj" fmla="val 516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34D"/>
                </a:solidFill>
              </a:defRPr>
            </a:pPr>
            <a:r>
              <a:rPr sz="1725" b="0">
                <a:solidFill>
                  <a:srgbClr val="57534D"/>
                </a:solidFill>
              </a:rPr>
              <a:t>Students use hygiene, food-safety and risk-management reasoning to prepare for practical food work and respond calmly when conditions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B69B2-A339-42BB-9C12-03C73CC4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045"/>
                </a:solidFill>
              </a:defRPr>
            </a:pPr>
            <a:r>
              <a:rPr sz="1575" b="1">
                <a:solidFill>
                  <a:srgbClr val="006045"/>
                </a:solidFill>
              </a:rPr>
              <a:t>Notice → Question → Evidence →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270BD-8314-4563-969B-C56E663D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198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7534D"/>
                </a:solidFill>
              </a:defRPr>
            </a:pPr>
            <a:r>
              <a:rPr sz="900" b="1">
                <a:solidFill>
                  <a:srgbClr val="57534D"/>
                </a:solidFill>
              </a:rPr>
              <a:t>1 / 8</a:t>
            </a:r>
          </a:p>
        </p:txBody>
      </p:sp>
    </p:spTree>
    <p:extLst>
      <p:ext uri="{BB962C8B-B14F-4D97-AF65-F5344CB8AC3E}">
        <p14:creationId xmlns:p14="http://schemas.microsoft.com/office/powerpoint/2010/main" val="3915122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EA0B8-622B-4032-86AF-5FC8EAA4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1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D7647-2D85-498B-89F2-17751B24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Personal hygiene and readiness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4CD35-D77A-41D1-AC76-53AFB9BD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1.2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8035388974e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524000"/>
            <a:ext cx="50292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E04FE-C794-4244-9DFA-54F5E757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Explain how personal preparation interrupts contamination pathways and make a defensible readiness decision before handling food.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35A71-9715-406E-B8CF-EB8FF02B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connect each hygiene action to a contamination pathway 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distinguish clean-looking from food-safe.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complete and justify a person-to-place readiness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32099-1D06-4044-AAAC-6238ECFB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Do not just spot differences: explain the contamination pathway controlled by each change.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CB929-8E7D-4ED5-81C8-EDB46F9F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F0818-2A95-465E-B469-96EC1C62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A3988-75D2-48C1-AF3D-76AEFC93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2 / 8</a:t>
            </a:r>
          </a:p>
        </p:txBody>
      </p:sp>
    </p:spTree>
    <p:extLst>
      <p:ext uri="{BB962C8B-B14F-4D97-AF65-F5344CB8AC3E}">
        <p14:creationId xmlns:p14="http://schemas.microsoft.com/office/powerpoint/2010/main" val="1463876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C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C82BF-B64F-4B9B-9ADD-AB2F9EB9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SECTION 1.1 · DECIDE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EC17F-53BB-446F-906D-0994393E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Contamination-chain photo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20A8C-782C-40F8-9B5B-31BEBD79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0513E-A291-43B1-A303-AF1A7D76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045"/>
                </a:solidFill>
              </a:defRPr>
            </a:pPr>
            <a:r>
              <a:rPr sz="1650" b="1">
                <a:solidFill>
                  <a:srgbClr val="006045"/>
                </a:solidFill>
              </a:rPr>
              <a:t>Practise connecting visible preparation choices to invisible transfer pathways.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95151-E181-4BEC-A350-66C37713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C22"/>
                </a:solidFill>
              </a:defRPr>
            </a:pPr>
            <a:r>
              <a:rPr sz="1275" b="1">
                <a:solidFill>
                  <a:srgbClr val="002C22"/>
                </a:solidFill>
              </a:rPr>
              <a:t>Scene A: phone just used, loose hair, dry hands and a shared bench. Scene B: phone stored, hair restrained, hands washed and a clear bench. Mark what is visible; infer pathways cautiously.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77FD7-7403-4596-A3B2-C70E9D2D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DF184-286D-4197-B12D-1123D946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C22"/>
                </a:solidFill>
              </a:defRPr>
            </a:pPr>
            <a:r>
              <a:rPr sz="1350" b="1">
                <a:solidFill>
                  <a:srgbClr val="002C22"/>
                </a:solidFill>
              </a:rPr>
              <a:t>Mark possible biological, physical or allergen sources in the first scene.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7E124-D072-420D-AB45-AD36BB28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C700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D6152-1620-4FD4-8E95-1858F1AA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7190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C22"/>
                </a:solidFill>
              </a:defRPr>
            </a:pPr>
            <a:r>
              <a:rPr sz="1350" b="1">
                <a:solidFill>
                  <a:srgbClr val="002C22"/>
                </a:solidFill>
              </a:rPr>
              <a:t>Draw how one contaminant could reach ready-to-eat food.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DC7BC-9A2D-4F82-AB47-F19692EB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05150"/>
            <a:ext cx="552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AC9CD-ABB9-49E7-A5D4-8DBD7904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7190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2C22"/>
                </a:solidFill>
              </a:defRPr>
            </a:pPr>
            <a:r>
              <a:rPr sz="1350" b="1">
                <a:solidFill>
                  <a:srgbClr val="002C22"/>
                </a:solidFill>
              </a:rPr>
              <a:t>Match each arrow to a control in the prepared scene.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4B6E9-0AF4-4C6D-AE19-AB69C76A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C22"/>
                </a:solidFill>
              </a:defRPr>
            </a:pPr>
            <a:r>
              <a:rPr sz="1500" b="1">
                <a:solidFill>
                  <a:srgbClr val="002C22"/>
                </a:solidFill>
              </a:rPr>
              <a:t>Evidence to keep: An annotated contamination chain and revised five-point checklist, labelled formative practice.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696F0-7AA2-4E5B-A2D8-35AF95FD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A1EB3D-E21B-4CED-8E37-32901618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DD43DD-B5BE-4524-996B-4BF82265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3 / 8</a:t>
            </a:r>
          </a:p>
        </p:txBody>
      </p:sp>
    </p:spTree>
    <p:extLst>
      <p:ext uri="{BB962C8B-B14F-4D97-AF65-F5344CB8AC3E}">
        <p14:creationId xmlns:p14="http://schemas.microsoft.com/office/powerpoint/2010/main" val="9154948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91162-1BCA-4382-AB11-876AB8A9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2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C882B-8555-4480-A2C1-59E06CC4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Contamination, temperature and food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F1689-BA95-4C12-9113-589DF290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1.4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f780be8284c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50292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3D5AF-DBFA-428E-AEA4-B62C39B5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Classify food hazards and use separation, cleaning, temperature and cumulative-time evidence to choose safe handling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4BB01-8D02-4641-ABC0-38FA6810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distinguish biological, chemical, physical and allergen hazards.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trace cross-contamination and place a control at the transfer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apply Australian temperature and two-hour/four-hour guidance.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80B0C-1058-457D-BF4D-13755810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Trace each hazard's journey and place the earliest practical control.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14567-A83D-4E43-87F1-DF70C237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731A78-2F7A-445B-846F-2CD5A94E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4CCBF-8485-4D5F-80B4-E6F9ECAB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4 / 8</a:t>
            </a:r>
          </a:p>
        </p:txBody>
      </p:sp>
    </p:spTree>
    <p:extLst>
      <p:ext uri="{BB962C8B-B14F-4D97-AF65-F5344CB8AC3E}">
        <p14:creationId xmlns:p14="http://schemas.microsoft.com/office/powerpoint/2010/main" val="18342671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B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C10E9-7D23-434D-806C-E65FA699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SECTION 1.2 · HIGHER-ORDER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38E76-FFA1-47D5-A0F1-8440BCC7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Compare, decide and explain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9B2C80-09BD-4BCB-9470-853519B8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1.5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49654-04D8-47CF-AEEA-1BB58793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B9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2C22"/>
                </a:solidFill>
              </a:defRPr>
            </a:pPr>
            <a:r>
              <a:rPr sz="1575" b="1">
                <a:solidFill>
                  <a:srgbClr val="002C22"/>
                </a:solidFill>
              </a:rPr>
              <a:t>Analyse a lunch-preparation scene where raw food, ready-to-eat salad and chilled filling share a bench. Identify four hazards, trace their transfer or growth pathways, and justify controls using separation, cleaning, time and temperature.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3961C-C60C-4AD8-981C-AD535122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2C22"/>
                </a:solidFill>
              </a:defRPr>
            </a:pPr>
            <a:r>
              <a:rPr sz="1275" b="1">
                <a:solidFill>
                  <a:srgbClr val="002C22"/>
                </a:solidFill>
              </a:rPr>
              <a:t>STIMULUS — Scenario: a raw-chicken packet, ready-to-eat salad, chilled filling and a phone share one bench; the salad knife changes hands; food has been out for 70 minutes.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6E08B-C5E5-4189-ABB9-DE1753DA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314325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0036"/>
                </a:solidFill>
              </a:defRPr>
            </a:pPr>
            <a:r>
              <a:rPr sz="1650" b="1">
                <a:solidFill>
                  <a:srgbClr val="C70036"/>
                </a:solidFill>
              </a:rPr>
              <a:t>Build the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1870E-0340-4F12-A41D-AD4F5802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6667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2C22"/>
                </a:solidFill>
              </a:defRPr>
            </a:pPr>
            <a:r>
              <a:rPr sz="1350" b="0">
                <a:solidFill>
                  <a:srgbClr val="002C22"/>
                </a:solidFill>
              </a:rPr>
              <a:t>• Classify at least four hazards.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2C22"/>
                </a:solidFill>
              </a:defRPr>
            </a:pPr>
            <a:r>
              <a:rPr sz="1350" b="0">
                <a:solidFill>
                  <a:srgbClr val="002C22"/>
                </a:solidFill>
              </a:rPr>
              <a:t>• Trace each source-to-food or source-to-person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002C22"/>
                </a:solidFill>
              </a:defRPr>
            </a:pPr>
            <a:r>
              <a:rPr sz="1350" b="0">
                <a:solidFill>
                  <a:srgbClr val="002C22"/>
                </a:solidFill>
              </a:rPr>
              <a:t>• Place the earliest practical control on each route.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D1865-476A-4557-BC33-301503D3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3752850" cy="361950"/>
          </a:xfrm>
          <a:prstGeom xmlns:a="http://schemas.openxmlformats.org/drawingml/2006/main" prst="roundRect">
            <a:avLst>
              <a:gd name="adj" fmla="val 2105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6045"/>
                </a:solidFill>
              </a:defRPr>
            </a:pPr>
            <a:r>
              <a:rPr sz="1650" b="1">
                <a:solidFill>
                  <a:srgbClr val="006045"/>
                </a:solidFill>
              </a:rPr>
              <a:t>Strong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5DC04-AA52-49B6-80B0-BF6AE87A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76650"/>
            <a:ext cx="37528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Applies hazard categories accurately.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Explains transfer and growth mechanisms.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002C22"/>
                </a:solidFill>
              </a:defRPr>
            </a:pPr>
            <a:r>
              <a:rPr sz="1275" b="0">
                <a:solidFill>
                  <a:srgbClr val="002C22"/>
                </a:solidFill>
              </a:rPr>
              <a:t>• Uses Australian temperature and time guidance correctly.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B9D66-D609-42DF-BB42-854D4A66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6442B-3443-4E5A-84B2-30651EB2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50B20-B182-4BBE-9B93-AF250C4E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5 / 8</a:t>
            </a:r>
          </a:p>
        </p:txBody>
      </p:sp>
    </p:spTree>
    <p:extLst>
      <p:ext uri="{BB962C8B-B14F-4D97-AF65-F5344CB8AC3E}">
        <p14:creationId xmlns:p14="http://schemas.microsoft.com/office/powerpoint/2010/main" val="1379893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3A0A8-7C47-4638-A949-621B107F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CONCEPT 3 · NOTICE AND EXPLAIN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7F0DF-8412-4A00-A319-F6C39967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Safe decisions and incident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B26A57-C1DE-4A88-A68E-1DE6F59F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1.6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d9d2de36aa4d1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524000"/>
            <a:ext cx="502920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0A0A4-6BF1-470E-B7C4-2D729C38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4953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045"/>
                </a:solidFill>
              </a:defRPr>
            </a:pPr>
            <a:r>
              <a:rPr sz="1725" b="1">
                <a:solidFill>
                  <a:srgbClr val="006045"/>
                </a:solidFill>
              </a:rPr>
              <a:t>Use a calm stop–isolate–tell process and evidence-based risk reasoning to prevent escalation.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F8708-AF78-4C31-9E21-8680F5E8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953000" cy="2428875"/>
          </a:xfrm>
          <a:prstGeom xmlns:a="http://schemas.openxmlformats.org/drawingml/2006/main" prst="roundRect">
            <a:avLst>
              <a:gd name="adj" fmla="val 470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distinguish a hazard, a risk and a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choose a proportionate response without acting beyond my training.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I can explain how near-miss information improves planning.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52BA5-D53C-4E8F-BE78-F86BC038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36"/>
                </a:solidFill>
              </a:defRPr>
            </a:pPr>
            <a:r>
              <a:rPr sz="1275" b="1">
                <a:solidFill>
                  <a:srgbClr val="C70036"/>
                </a:solidFill>
              </a:rPr>
              <a:t>For each incident, identify hazard, risk and the first action that prevents escalation.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79ADD-3D93-4D4E-AB1C-640A30A6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BC3A9-DA97-4036-9AC0-59C19418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C2ED4-48A9-41B4-B48B-6BDC870A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6 / 8</a:t>
            </a:r>
          </a:p>
        </p:txBody>
      </p:sp>
    </p:spTree>
    <p:extLst>
      <p:ext uri="{BB962C8B-B14F-4D97-AF65-F5344CB8AC3E}">
        <p14:creationId xmlns:p14="http://schemas.microsoft.com/office/powerpoint/2010/main" val="2031414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E0E7F-32E5-48FF-920C-1C7D85C3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429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0036"/>
                </a:solidFill>
              </a:defRPr>
            </a:pPr>
            <a:r>
              <a:rPr sz="975" b="1">
                <a:solidFill>
                  <a:srgbClr val="C70036"/>
                </a:solidFill>
              </a:rPr>
              <a:t>INVESTIGATION · EVIDENCE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29E66-DA27-46F0-9695-08DA5761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2C22"/>
                </a:solidFill>
              </a:defRPr>
            </a:pPr>
            <a:r>
              <a:rPr sz="2850" b="1">
                <a:solidFill>
                  <a:srgbClr val="002C22"/>
                </a:solidFill>
              </a:rPr>
              <a:t>Apply the three ideas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5C58A-C4BE-411D-8984-6EBC89B3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143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1.7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3d939711a468f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390525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DA673-62B6-4B98-9F56-0C096506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62100"/>
            <a:ext cx="6457950" cy="590550"/>
          </a:xfrm>
          <a:prstGeom xmlns:a="http://schemas.openxmlformats.org/drawingml/2006/main" prst="roundRect">
            <a:avLst>
              <a:gd name="adj" fmla="val 1290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6045"/>
                </a:solidFill>
              </a:defRPr>
            </a:pPr>
            <a:r>
              <a:rPr sz="2100" b="1">
                <a:solidFill>
                  <a:srgbClr val="006045"/>
                </a:solidFill>
              </a:rPr>
              <a:t>First-action decision carousel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81FC3-1DB8-4589-BF24-49EF4CD9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86000"/>
            <a:ext cx="6457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2C22"/>
                </a:solidFill>
              </a:defRPr>
            </a:pPr>
            <a:r>
              <a:rPr sz="1650" b="0">
                <a:solidFill>
                  <a:srgbClr val="002C22"/>
                </a:solidFill>
              </a:rPr>
              <a:t>Rehearse calm, proportionate incident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605B0-7699-421C-A399-BE70A3FA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48050"/>
            <a:ext cx="6457950" cy="1866900"/>
          </a:xfrm>
          <a:prstGeom xmlns:a="http://schemas.openxmlformats.org/drawingml/2006/main" prst="roundRect">
            <a:avLst>
              <a:gd name="adj" fmla="val 612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Cross out actions beyond student training.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Add one preventive workflow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002C22"/>
                </a:solidFill>
              </a:defRPr>
            </a:pPr>
            <a:r>
              <a:rPr sz="1425" b="0">
                <a:solidFill>
                  <a:srgbClr val="002C22"/>
                </a:solidFill>
              </a:rPr>
              <a:t>• Peer-check that the change breaks the pathway.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C126E-881A-419D-959F-D6348AB9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467350"/>
            <a:ext cx="6457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36"/>
                </a:solidFill>
              </a:defRPr>
            </a:pPr>
            <a:r>
              <a:rPr sz="1350" b="1">
                <a:solidFill>
                  <a:srgbClr val="C70036"/>
                </a:solidFill>
              </a:rPr>
              <a:t>Keep: Four decision records and one expanded before-and-after redesign.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3097E8-F8AB-41F7-B78A-A1A9A730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5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3593E-AA6E-4E4F-908B-BE9E3D6A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FOOD SELECTION &amp; HEALTH  ·  MODULE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97EA5-47C1-4E1D-AD5F-330B9CE5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15100"/>
            <a:ext cx="13144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7534D"/>
                </a:solidFill>
              </a:defRPr>
            </a:pPr>
            <a:r>
              <a:rPr sz="825" b="1">
                <a:solidFill>
                  <a:srgbClr val="57534D"/>
                </a:solidFill>
              </a:rPr>
              <a:t>7 / 8</a:t>
            </a:r>
          </a:p>
        </p:txBody>
      </p:sp>
    </p:spTree>
    <p:extLst>
      <p:ext uri="{BB962C8B-B14F-4D97-AF65-F5344CB8AC3E}">
        <p14:creationId xmlns:p14="http://schemas.microsoft.com/office/powerpoint/2010/main" val="11527761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2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82383-E171-4F79-BCF6-BC271969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334000" cy="304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900"/>
                </a:solidFill>
              </a:defRPr>
            </a:pPr>
            <a:r>
              <a:rPr sz="1125" b="1">
                <a:solidFill>
                  <a:srgbClr val="FFB900"/>
                </a:solidFill>
              </a:rPr>
              <a:t>REVIEW · REPAIR · KEEP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C6FD2-0917-45FA-8010-92328105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7334250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Can you defend the decision?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17602-8301-4DD7-8E58-A7A6DA89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667500" cy="2476500"/>
          </a:xfrm>
          <a:prstGeom xmlns:a="http://schemas.openxmlformats.org/drawingml/2006/main" prst="roundRect">
            <a:avLst>
              <a:gd name="adj" fmla="val 461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1. Why wash hands again after putting a phone away?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2. Which example is a biological food hazard?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• 3. Which statement distinguishes hazard from risk?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84B15-FD0A-41D6-A25F-FF80BE03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66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B9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2C22"/>
                </a:solidFill>
              </a:defRPr>
            </a:pPr>
            <a:r>
              <a:rPr sz="1500" b="1">
                <a:solidFill>
                  <a:srgbClr val="002C22"/>
                </a:solidFill>
              </a:rPr>
              <a:t>Save as “M1.3 Near-miss redesign” with before-and-after workflow sketches and one measure of success.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2D77E-5F0A-4A56-AE5E-69FE1050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3695700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B900"/>
                </a:solidFill>
              </a:defRPr>
            </a:pPr>
            <a:r>
              <a:rPr sz="1500" b="1">
                <a:solidFill>
                  <a:srgbClr val="FFB900"/>
                </a:solidFill>
              </a:rPr>
              <a:t>Where this connects next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6775f22e640af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2590800"/>
            <a:ext cx="1714500" cy="1714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65d18193d45a0"/>
          <a:srcRect xmlns:a="http://schemas.openxmlformats.org/drawingml/2006/main" l="5492" t="0" r="54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1700" y="2590800"/>
            <a:ext cx="1714500" cy="171450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B08901-8BAD-4880-997B-27B3D20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67250"/>
            <a:ext cx="36957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60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Save selected evidence in My folio. Browser saving is not submission.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A3D6D-3E4D-47F1-946D-44B752A5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315075"/>
            <a:ext cx="857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8 / 8</a:t>
            </a:r>
          </a:p>
        </p:txBody>
      </p:sp>
    </p:spTree>
    <p:extLst>
      <p:ext uri="{BB962C8B-B14F-4D97-AF65-F5344CB8AC3E}">
        <p14:creationId xmlns:p14="http://schemas.microsoft.com/office/powerpoint/2010/main" val="847917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2026-08-27T16:30:10.9260000Z</dcterms:created>
  <dcterms:modified xsi:type="dcterms:W3CDTF">2026-08-27T16:30:10.9260000Z</dcterms:modified>
</coreProperties>
</file>