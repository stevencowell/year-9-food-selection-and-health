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31efe7df5e4e41" /><Relationship Type="http://schemas.openxmlformats.org/officeDocument/2006/relationships/extended-properties" Target="/docProps/app.xml" Id="Raeb76d0afe7f4472" /><Relationship Type="http://schemas.openxmlformats.org/officeDocument/2006/relationships/officeDocument" Target="/ppt/presentation.xml" Id="Rc053c7df994044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f3631d02ae4211"/>
  </p:sldMasterIdLst>
  <p:notesMasterIdLst>
    <p:notesMasterId xmlns:r="http://schemas.openxmlformats.org/officeDocument/2006/relationships" r:id="Rbf31500ef61d4d57"/>
  </p:notesMasterIdLst>
  <p:sldIdLst>
    <p:sldId xmlns:r="http://schemas.openxmlformats.org/officeDocument/2006/relationships" id="256" r:id="Rca724b2aa7924396"/>
    <p:sldId xmlns:r="http://schemas.openxmlformats.org/officeDocument/2006/relationships" id="257" r:id="R5e9ebd567b5b4949"/>
    <p:sldId xmlns:r="http://schemas.openxmlformats.org/officeDocument/2006/relationships" id="258" r:id="R970b7734fcad431f"/>
    <p:sldId xmlns:r="http://schemas.openxmlformats.org/officeDocument/2006/relationships" id="259" r:id="R0472ebdcac4e4d88"/>
    <p:sldId xmlns:r="http://schemas.openxmlformats.org/officeDocument/2006/relationships" id="260" r:id="R16129ddbed4d4252"/>
    <p:sldId xmlns:r="http://schemas.openxmlformats.org/officeDocument/2006/relationships" id="261" r:id="R2a51f3c3ad514d34"/>
    <p:sldId xmlns:r="http://schemas.openxmlformats.org/officeDocument/2006/relationships" id="262" r:id="R79f8c203ec55411b"/>
    <p:sldId xmlns:r="http://schemas.openxmlformats.org/officeDocument/2006/relationships" id="263" r:id="Ra0c865c5ad5243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be0a9bbed44f5a" /><Relationship Type="http://schemas.openxmlformats.org/officeDocument/2006/relationships/slideMaster" Target="/ppt/slideMasters/slideMaster1.xml" Id="Re0f3631d02ae4211" /><Relationship Type="http://schemas.openxmlformats.org/officeDocument/2006/relationships/notesMaster" Target="/ppt/notesMasters/notesMaster1.xml" Id="Rbf31500ef61d4d57" /><Relationship Type="http://schemas.openxmlformats.org/officeDocument/2006/relationships/presProps" Target="/ppt/presProps.xml" Id="R2164c184053e44d9" /><Relationship Type="http://schemas.openxmlformats.org/officeDocument/2006/relationships/tableStyles" Target="/ppt/tableStyles.xml" Id="R31cb9fcb5b164df2" /><Relationship Type="http://schemas.openxmlformats.org/officeDocument/2006/relationships/slide" Target="/ppt/slides/slide1.xml" Id="Rca724b2aa7924396" /><Relationship Type="http://schemas.openxmlformats.org/officeDocument/2006/relationships/slide" Target="/ppt/slides/slide2.xml" Id="R5e9ebd567b5b4949" /><Relationship Type="http://schemas.openxmlformats.org/officeDocument/2006/relationships/slide" Target="/ppt/slides/slide3.xml" Id="R970b7734fcad431f" /><Relationship Type="http://schemas.openxmlformats.org/officeDocument/2006/relationships/slide" Target="/ppt/slides/slide4.xml" Id="R0472ebdcac4e4d88" /><Relationship Type="http://schemas.openxmlformats.org/officeDocument/2006/relationships/slide" Target="/ppt/slides/slide5.xml" Id="R16129ddbed4d4252" /><Relationship Type="http://schemas.openxmlformats.org/officeDocument/2006/relationships/slide" Target="/ppt/slides/slide6.xml" Id="R2a51f3c3ad514d34" /><Relationship Type="http://schemas.openxmlformats.org/officeDocument/2006/relationships/slide" Target="/ppt/slides/slide7.xml" Id="R79f8c203ec55411b" /><Relationship Type="http://schemas.openxmlformats.org/officeDocument/2006/relationships/slide" Target="/ppt/slides/slide8.xml" Id="Ra0c865c5ad5243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df2f7dfec41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fbdec8818d4f0d" /><Relationship Type="http://schemas.openxmlformats.org/officeDocument/2006/relationships/notesMaster" Target="/ppt/notesMasters/notesMaster1.xml" Id="Reb5064958848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a1b3b7df0841d6" /><Relationship Type="http://schemas.openxmlformats.org/officeDocument/2006/relationships/notesMaster" Target="/ppt/notesMasters/notesMaster1.xml" Id="Rc64fed6720bc41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1e9bf771554d84" /><Relationship Type="http://schemas.openxmlformats.org/officeDocument/2006/relationships/notesMaster" Target="/ppt/notesMasters/notesMaster1.xml" Id="R837bed56508349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a3b07d9db04cc9" /><Relationship Type="http://schemas.openxmlformats.org/officeDocument/2006/relationships/notesMaster" Target="/ppt/notesMasters/notesMaster1.xml" Id="R458de101ef614b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d7fe3afe334293" /><Relationship Type="http://schemas.openxmlformats.org/officeDocument/2006/relationships/notesMaster" Target="/ppt/notesMasters/notesMaster1.xml" Id="Rdc0bf24527dc41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aec1df1856471b" /><Relationship Type="http://schemas.openxmlformats.org/officeDocument/2006/relationships/notesMaster" Target="/ppt/notesMasters/notesMaster1.xml" Id="R1731ff22fc1540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643b3a1f8d4c33" /><Relationship Type="http://schemas.openxmlformats.org/officeDocument/2006/relationships/notesMaster" Target="/ppt/notesMasters/notesMaster1.xml" Id="R215b4283400e41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5a2804863e434c" /><Relationship Type="http://schemas.openxmlformats.org/officeDocument/2006/relationships/notesMaster" Target="/ppt/notesMasters/notesMaster1.xml" Id="R3164b4d143394b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module around one defensible food decision. Use the context image to elicit what students notice before naming the three sections.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C:\Users\scowell1\Documents\Codex\2026-08-28\new-tas-course-site-builder-plugin-2\outputs\year-9-food-selection-and-health\assets\visual-m04-board.png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https://www.eatforhealth.gov.au/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C:\Users\scowell1\Documents\Codex\2026-08-28\new-tas-course-site-builder-plugin-2\outputs\year-9-food-selection-and-health\_project\evidence\presentations\crops\module-04-q2.png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class moving through three clear stages. Invite one group to defend a choice using the concept language, then name the evidence students should retain.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https://www.eatforhealth.gov.au/</a:t>
            </a:r>
          </a:p>
          <a:p xmlns:a="http://schemas.openxmlformats.org/drawingml/2006/main">
            <a:r>
              <a:t>- https://www.foodstandards.gov.au/consumer/labelling/panels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https://www.eatforhealth.gov.au/nutrient-reference-values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C:\Users\scowell1\Documents\Codex\2026-08-28\new-tas-course-site-builder-plugin-2\outputs\year-9-food-selection-and-health\_project\evidence\presentations\crops\module-04-q3.png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 claim, evidence and reasoning chain without dictating the response. Ask students to locate the trade-off or limit that keeps the conclusion defensible.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https://www.eatforhealth.gov.au/nutrient-reference-values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https://www.healthstarrating.gov.au/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C:\Users\scowell1\Documents\Codex\2026-08-28\new-tas-course-site-builder-plugin-2\outputs\year-9-food-selection-and-health\_project\evidence\presentations\crops\module-04-q4.png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explanation to applied evidence. The activity should remain formative unless the teacher explicitly links it to an approved formal task.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https://www.healthstarrating.gov.au/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C:\Users\scowell1\Documents\Codex\2026-08-28\new-tas-course-site-builder-plugin-2\outputs\year-9-food-selection-and-health\_project\evidence\presentations\crops\module-04-q4.png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check. Reopen a section package where reasoning is weak, then direct students to the relevant folio stage.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C:\Users\scowell1\Documents\Codex\2026-08-28\new-tas-course-site-builder-plugin-2\outputs\year-9-food-selection-and-health\_project\evidence\presentations\crops\module-03-q1.png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C:\Users\scowell1\Documents\Codex\2026-08-28\new-tas-course-site-builder-plugin-2\outputs\year-9-food-selection-and-health\_project\evidence\presentations\crops\module-05-q1.png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ed33e5aae41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bafad02274d9d" /><Relationship Type="http://schemas.openxmlformats.org/officeDocument/2006/relationships/slideLayout" Target="/ppt/slideLayouts/slideLayout1.xml" Id="Rf9fe56945d0041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e56945d0041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5ec32c6b540a9" /><Relationship Type="http://schemas.openxmlformats.org/officeDocument/2006/relationships/image" Target="/ppt/media/image.png" Id="R1ebba98d1d15493a" /><Relationship Type="http://schemas.openxmlformats.org/officeDocument/2006/relationships/notesSlide" Target="/ppt/notesSlides/notesSlide1.xml" Id="R3f587998248f45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70bb98903429d" /><Relationship Type="http://schemas.openxmlformats.org/officeDocument/2006/relationships/image" Target="/ppt/media/image2.png" Id="R59b4fab8007d47c3" /><Relationship Type="http://schemas.openxmlformats.org/officeDocument/2006/relationships/notesSlide" Target="/ppt/notesSlides/notesSlide2.xml" Id="Ra375f7a0a70e44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706eed09a4b03" /><Relationship Type="http://schemas.openxmlformats.org/officeDocument/2006/relationships/notesSlide" Target="/ppt/notesSlides/notesSlide3.xml" Id="Rec088f3fff18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d8ca36fde4b77" /><Relationship Type="http://schemas.openxmlformats.org/officeDocument/2006/relationships/image" Target="/ppt/media/image3.png" Id="R5ae0297c33cb4229" /><Relationship Type="http://schemas.openxmlformats.org/officeDocument/2006/relationships/notesSlide" Target="/ppt/notesSlides/notesSlide4.xml" Id="R0d759f1151b44a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7e83221fc4e49" /><Relationship Type="http://schemas.openxmlformats.org/officeDocument/2006/relationships/notesSlide" Target="/ppt/notesSlides/notesSlide5.xml" Id="Ra1e6f5b1fbf142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eb952d814d08" /><Relationship Type="http://schemas.openxmlformats.org/officeDocument/2006/relationships/image" Target="/ppt/media/image4.png" Id="R93fd1d23c5ea489d" /><Relationship Type="http://schemas.openxmlformats.org/officeDocument/2006/relationships/notesSlide" Target="/ppt/notesSlides/notesSlide6.xml" Id="R7311bca5797f44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50c9ce9dc48b0" /><Relationship Type="http://schemas.openxmlformats.org/officeDocument/2006/relationships/image" Target="/ppt/media/image5.png" Id="Ref7ba03317994ef3" /><Relationship Type="http://schemas.openxmlformats.org/officeDocument/2006/relationships/notesSlide" Target="/ppt/notesSlides/notesSlide7.xml" Id="R8d0426629fad44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d3e466412416b" /><Relationship Type="http://schemas.openxmlformats.org/officeDocument/2006/relationships/image" Target="/ppt/media/image6.png" Id="Rc0fb3a04a2534105" /><Relationship Type="http://schemas.openxmlformats.org/officeDocument/2006/relationships/image" Target="/ppt/media/image7.png" Id="R32935a0dbfc74bd7" /><Relationship Type="http://schemas.openxmlformats.org/officeDocument/2006/relationships/notesSlide" Target="/ppt/notesSlides/notesSlide8.xml" Id="R9189ce1f05d34a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ba98d1d15493a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24B93-5E0C-46D0-A610-C555DA9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51A14-5C05-419A-B4E4-0E69C362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MODULE 4 · YEAR 9 FOOD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0AAAC-D163-44FA-BC2D-E7A9E55D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2C22"/>
                </a:solidFill>
              </a:defRPr>
            </a:pPr>
            <a:r>
              <a:rPr sz="3900" b="1">
                <a:solidFill>
                  <a:srgbClr val="002C22"/>
                </a:solidFill>
              </a:rPr>
              <a:t>Needs, habits and influences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D8281-E3B4-49C8-8AEC-3D55399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5191125" cy="1476375"/>
          </a:xfrm>
          <a:prstGeom xmlns:a="http://schemas.openxmlformats.org/drawingml/2006/main" prst="roundRect">
            <a:avLst>
              <a:gd name="adj" fmla="val 51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D"/>
                </a:solidFill>
              </a:defRPr>
            </a:pPr>
            <a:r>
              <a:rPr sz="1725" b="0">
                <a:solidFill>
                  <a:srgbClr val="57534D"/>
                </a:solidFill>
              </a:rPr>
              <a:t>Students investigate how food variety, changing life-stage needs and interacting personal, social, cultural and digital influences shape food selection without reducing health to a single food or personal trait.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85216-2A21-451A-A3C8-74CD77D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045"/>
                </a:solidFill>
              </a:defRPr>
            </a:pPr>
            <a:r>
              <a:rPr sz="1575" b="1">
                <a:solidFill>
                  <a:srgbClr val="006045"/>
                </a:solidFill>
              </a:rPr>
              <a:t>Notice → Question → Evidence →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2FD09-F4C1-4CDF-BA52-D34E6E22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D"/>
                </a:solidFill>
              </a:defRPr>
            </a:pPr>
            <a:r>
              <a:rPr sz="900" b="1">
                <a:solidFill>
                  <a:srgbClr val="57534D"/>
                </a:solidFill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2098610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60265-A90E-47EE-B9AC-6EEADE7F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1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DE0DE-768B-4F31-AD59-C968770B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Active non-nutrients and food variety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6AB9F-2336-462C-9498-BC735A2D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4.2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4fab8007d47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55714-EDCB-4AB1-BD53-2330DD2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Investigate how water (a nutrient), fibre and naturally occurring plant compounds contribute to healthy eating patterns, and explain why variety matters more than chasing one supposed superfood.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B6528-7C81-4A44-82A5-96780D0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nutrients from other food components that support body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how fibre and water support digestion using an accurate cause-and-effect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justify a varied food choice without making a cure, detox or superfood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5C5B2-F109-4C3F-883E-22E2616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Variety is evidence of a broader mix of food components; it is not proof that one food has special powers.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1F28B-A297-4694-8FEB-01930A31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19366-F345-4C34-AC8D-52785C6F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E6660-2915-4983-A940-E643BCE3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949261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FE9DA-49B1-47CE-A13A-7010EA9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4.1 ·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F202B-91AB-4F36-9408-54A1228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Variety evidence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9AA41-EE3C-4160-BA77-B5AE356C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30CCC-31D8-4880-90A3-FC088CA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Practise matching observable food features to defensible contributions while rejecting exaggerated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BF4A5-2765-41D6-A53C-5A84A9AC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Repair these fictional claims: ‘One berry detoxes your body.’ ‘This seed prevents illness.’ Replace certainty with what evidence can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5F634-C1C4-425E-82AC-EB4BDC61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A4EE0-0A41-45EE-B1A3-33C8B981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Sort food photos by more than one possible contribution.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38E21-356D-44E5-A561-53B39963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700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B8056-DF56-44F0-889E-8DD89BC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Match each group to a cautious evidence statement.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63052-160B-428B-8607-E018C79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EF97B-A0DA-48D7-977F-9B09FFB6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Identify and rewrite the two exaggerated claims.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769F6-5185-4EB7-9AC5-CFBDD42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Evidence to keep: One annotated sort, two corrected claims and a photographed or written snack redesign saved as formative practice.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8B225-8368-4031-92BA-6A08496E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ADB24-25C2-4BF4-8388-C99158C3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78BC7-3D99-4EEE-86E7-0E40C6C1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691394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1E597-1212-40B9-A2B8-B06D0BD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2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A26E2-A4FC-4DD5-B854-A68D747D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Nutrition across the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67CAC-4370-478A-A38B-B028C5B0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4.4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0297c33cb42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52AB9-06DE-460C-8230-EC59B54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Explain why food and nutrient needs change across life stages and use context, rather than stereotypes, to adapt a food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77EB9-0B6E-4B62-841D-4FD65040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identify factors that alter energy and nutrient needs across life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why two people in the same age group may still have different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adapt a meal for a stated context without diagnosing or prescribing.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10D2A-1D7B-4FE3-8876-F67062BF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Life stage guides the questions we ask; the person's actual context guides the design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14B1F-5670-40FF-A983-4B5FEF66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A0382-2A79-4CA9-85FB-7DE170A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2AAE2-CDC1-4F8B-B96B-FD5540D3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840164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B3387-058F-4872-AB3A-050F5B1D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4.2 · HIGHER-ORDER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A7992-9B6C-47A8-9E26-FC4D619B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Compare, decide and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4130E-4495-46D6-BEC6-DD01E08F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4F3C4-EE55-4033-9882-A5E1B59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2C22"/>
                </a:solidFill>
              </a:defRPr>
            </a:pPr>
            <a:r>
              <a:rPr sz="1725" b="1">
                <a:solidFill>
                  <a:srgbClr val="002C22"/>
                </a:solidFill>
              </a:rPr>
              <a:t>Compare the needs in two lifecycle case studies and justify one food-design adaptation for each, showing which details are evidence and which still need confirmation.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B3D75-EE1B-4A78-BFBD-D3C3304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Case A: 14-year-old with afternoon training, limited fridge access and no stated allergy. Case B: 70-year-old cooking for one, smaller appetite and chewing difficulty; no clinical advice is supplied.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C831F-4ECF-4DA9-A660-DD323F5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36"/>
                </a:solidFill>
              </a:defRPr>
            </a:pPr>
            <a:r>
              <a:rPr sz="1650" b="1">
                <a:solidFill>
                  <a:srgbClr val="C70036"/>
                </a:solidFill>
              </a:rPr>
              <a:t>Build the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C3700-B3C4-4C95-BF3A-A20779FC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66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Summarise each person's stated life stage and context without stereotypes.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Identify one relevant nutrition or practical need in each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Select one food or design feature that could respond to each need.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767AB-32B3-44E7-9808-EB22B3B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7528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Strong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1FD14-9CD6-4A9D-B8D1-EF3C1A58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7528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Separates life-stage guidance from individual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Uses accurate cause-and-effect reasoning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Avoids diagnosis, prescription and stereotypes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D5B9F-AB76-411F-A56F-2ED742C7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FE767-C0AB-4C3D-BC62-4BF1409F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270C7-2E81-400D-B406-B1FFC2EA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792182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78C63-E1F7-4A87-8132-B269BF6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3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59D36-95F9-4EE8-9960-BADB0E2E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Personal, social, cultural and digital influences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68B57-F1C0-4A4C-8735-ABFE914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4.6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d1d23c5ea489d"/>
          <a:srcRect xmlns:a="http://schemas.openxmlformats.org/drawingml/2006/main" l="0" t="26170" r="0" b="26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21336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0874C-BC28-45E5-AA6F-4E2901A7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0292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FICTIONAL POST — ‘This natural snack suits every student and guarantees all-day energy.’ Check source, purpose, evidence, omissions and personal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F3394-0D37-4095-B4E3-C1F87CA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Analyse how interacting influences shape food selection and use a pause-check-decide process to make a reasoned choice.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9843E-7AC8-47E4-9542-FB4A073A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classify influences without treating any one influence as automatically good or bad.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how two or more influences interact in a realistic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test a digital food claim against source, evidence and personal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1878C-50C5-4701-8ED9-DF653379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Choices are shaped by several pressures at once; strong decisions identify those pressures before judging the person.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4AB62-2118-496D-BBC9-E4FF9CB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178A9-AA22-4C34-B23E-4C1B7C9E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13F59-4A4C-4C8E-9F40-443BD8F3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328936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91A65-D666-4074-819A-65F8FE31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INVESTIGATION ·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6F055-5CBC-4FD2-9056-C252327B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Apply the three ideas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6AA8A-1BA1-4CB2-9815-A2D9FEB5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4.7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ba03317994ef3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3905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3399B-2C73-4C75-B718-5F1F5EB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045"/>
                </a:solidFill>
              </a:defRPr>
            </a:pPr>
            <a:r>
              <a:rPr sz="2100" b="1">
                <a:solidFill>
                  <a:srgbClr val="006045"/>
                </a:solidFill>
              </a:rPr>
              <a:t>Influence detective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5AF49-2C6A-4845-99CB-EC83A88B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6457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C22"/>
                </a:solidFill>
              </a:defRPr>
            </a:pPr>
            <a:r>
              <a:rPr sz="1500" b="0">
                <a:solidFill>
                  <a:srgbClr val="002C22"/>
                </a:solidFill>
              </a:rPr>
              <a:t>Rehearse identifying, connecting and evaluating the influences inside one everyday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FDEAB-F8F7-461D-9174-64EFA359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6457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Use the fictional ‘natural snack’ post from Slide 6; map friends, price, time, family, source, evidence and personal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210FC-2DE5-473A-B164-479763D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64579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Draw arrows between influences that reinforce or conflict.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Check one digital or marketing message using source, purpose, evidence and missing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Complete pause-check-decide and compare a partner's equally defensible alternative.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6073F-01D4-4644-826B-9FFE556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36"/>
                </a:solidFill>
              </a:defRPr>
            </a:pPr>
            <a:r>
              <a:rPr sz="1350" b="1">
                <a:solidFill>
                  <a:srgbClr val="C70036"/>
                </a:solidFill>
              </a:rPr>
              <a:t>Keep: An annotated influence map, one checked claim and a concise decision reflection saved as formative practice.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77ED0-2FE0-4CF2-A29A-B36FA3DE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A04E4-5305-4429-8A3B-5DE67C0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22DC7-0F29-4B46-B244-4B62F862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969803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837A3-C419-4AE8-93E5-970595F7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900"/>
                </a:solidFill>
              </a:defRPr>
            </a:pPr>
            <a:r>
              <a:rPr sz="1125" b="1">
                <a:solidFill>
                  <a:srgbClr val="FFB900"/>
                </a:solidFill>
              </a:rPr>
              <a:t>REVIEW · REPAIR · KEEP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ECCE0-855A-4386-8F7B-32D4332F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3342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Can you defend the decision?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CC304-7DD6-432C-AA70-2AB5FCC2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4765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1. Which statement best describes an active non-nutrient in this lesson?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2. Why is life stage only a starting point for food design?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3. Why is food choice described as a system?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47859-1BB8-4F25-8290-1B09CE4C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Save the influence map and pause-check-decide justification under Folio &gt; Influences on selection.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85368-7631-4E90-9EE6-A2FD17F0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6957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00"/>
                </a:solidFill>
              </a:defRPr>
            </a:pPr>
            <a:r>
              <a:rPr sz="1500" b="1">
                <a:solidFill>
                  <a:srgbClr val="FFB900"/>
                </a:solidFill>
              </a:rPr>
              <a:t>Where this connects next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b3a04a2534105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35a0dbfc74bd7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E8717-D713-469B-88D0-B0C0DA10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695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Save selected evidence in My folio. Browser saving is not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A65B1-0109-4E5D-B01B-2C2BE11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15075"/>
            <a:ext cx="857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756293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2026-08-27T16:30:16.7540000Z</dcterms:created>
  <dcterms:modified xsi:type="dcterms:W3CDTF">2026-08-27T16:30:16.7540000Z</dcterms:modified>
</coreProperties>
</file>